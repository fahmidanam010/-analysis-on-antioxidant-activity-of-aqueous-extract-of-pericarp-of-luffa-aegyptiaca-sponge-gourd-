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73" r:id="rId12"/>
    <p:sldId id="274" r:id="rId13"/>
    <p:sldId id="266" r:id="rId14"/>
    <p:sldId id="267" r:id="rId15"/>
    <p:sldId id="268" r:id="rId16"/>
    <p:sldId id="269" r:id="rId17"/>
    <p:sldId id="270" r:id="rId18"/>
    <p:sldId id="271" r:id="rId19"/>
    <p:sldId id="27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405"/>
    <p:restoredTop sz="94651"/>
  </p:normalViewPr>
  <p:slideViewPr>
    <p:cSldViewPr snapToGrid="0" snapToObjects="1">
      <p:cViewPr varScale="1">
        <p:scale>
          <a:sx n="129" d="100"/>
          <a:sy n="129" d="100"/>
        </p:scale>
        <p:origin x="240" y="6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59D560F-D6E4-9349-9BA7-CD35E307A8B2}"/>
              </a:ext>
            </a:extLst>
          </p:cNvPr>
          <p:cNvPicPr>
            <a:picLocks noChangeAspect="1"/>
          </p:cNvPicPr>
          <p:nvPr userDrawn="1"/>
        </p:nvPicPr>
        <p:blipFill>
          <a:blip r:embed="rId2">
            <a:extLst>
              <a:ext uri="{BEBA8EAE-BF5A-486C-A8C5-ECC9F3942E4B}">
                <a14:imgProps xmlns:a14="http://schemas.microsoft.com/office/drawing/2010/main">
                  <a14:imgLayer>
                    <a14:imgEffect>
                      <a14:colorTemperature colorTemp="11200"/>
                    </a14:imgEffect>
                    <a14:imgEffect>
                      <a14:saturation sat="110000"/>
                    </a14:imgEffect>
                    <a14:imgEffect>
                      <a14:brightnessContrast contrast="10000"/>
                    </a14:imgEffect>
                  </a14:imgLayer>
                </a14:imgProps>
              </a:ext>
            </a:extLst>
          </a:blip>
          <a:stretch>
            <a:fillRect/>
          </a:stretch>
        </p:blipFill>
        <p:spPr>
          <a:xfrm>
            <a:off x="0" y="-1"/>
            <a:ext cx="12192000" cy="8707167"/>
          </a:xfrm>
          <a:prstGeom prst="rect">
            <a:avLst/>
          </a:prstGeom>
        </p:spPr>
      </p:pic>
      <p:sp>
        <p:nvSpPr>
          <p:cNvPr id="2" name="Title 1">
            <a:extLst>
              <a:ext uri="{FF2B5EF4-FFF2-40B4-BE49-F238E27FC236}">
                <a16:creationId xmlns:a16="http://schemas.microsoft.com/office/drawing/2014/main" id="{6ABAE466-B936-6848-A93C-5F0ED6BC4A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BBA0280-CD69-C648-A0DD-C29CA3E49A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5E2EF4A-B976-7743-B723-F4FB84A269E5}"/>
              </a:ext>
            </a:extLst>
          </p:cNvPr>
          <p:cNvSpPr>
            <a:spLocks noGrp="1"/>
          </p:cNvSpPr>
          <p:nvPr>
            <p:ph type="dt" sz="half" idx="10"/>
          </p:nvPr>
        </p:nvSpPr>
        <p:spPr/>
        <p:txBody>
          <a:bodyPr/>
          <a:lstStyle/>
          <a:p>
            <a:fld id="{800FCC36-A01D-8640-8AEA-9131D3C1F293}" type="datetimeFigureOut">
              <a:rPr lang="en-US" smtClean="0"/>
              <a:t>4/16/25</a:t>
            </a:fld>
            <a:endParaRPr lang="en-US"/>
          </a:p>
        </p:txBody>
      </p:sp>
      <p:sp>
        <p:nvSpPr>
          <p:cNvPr id="5" name="Footer Placeholder 4">
            <a:extLst>
              <a:ext uri="{FF2B5EF4-FFF2-40B4-BE49-F238E27FC236}">
                <a16:creationId xmlns:a16="http://schemas.microsoft.com/office/drawing/2014/main" id="{D70DA612-96F5-B24B-AEF5-81A4D92E34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F4A0FC-3600-104F-BA32-EE4471779373}"/>
              </a:ext>
            </a:extLst>
          </p:cNvPr>
          <p:cNvSpPr>
            <a:spLocks noGrp="1"/>
          </p:cNvSpPr>
          <p:nvPr>
            <p:ph type="sldNum" sz="quarter" idx="12"/>
          </p:nvPr>
        </p:nvSpPr>
        <p:spPr/>
        <p:txBody>
          <a:bodyPr/>
          <a:lstStyle/>
          <a:p>
            <a:fld id="{57D46262-0FC0-B643-8A3D-95E2BBC06DA2}" type="slidenum">
              <a:rPr lang="en-US" smtClean="0"/>
              <a:t>‹#›</a:t>
            </a:fld>
            <a:endParaRPr lang="en-US"/>
          </a:p>
        </p:txBody>
      </p:sp>
    </p:spTree>
    <p:extLst>
      <p:ext uri="{BB962C8B-B14F-4D97-AF65-F5344CB8AC3E}">
        <p14:creationId xmlns:p14="http://schemas.microsoft.com/office/powerpoint/2010/main" val="2174835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86BE1D5-68F4-FA43-8AA5-94A0AE81DBB3}"/>
              </a:ext>
            </a:extLst>
          </p:cNvPr>
          <p:cNvPicPr>
            <a:picLocks noChangeAspect="1"/>
          </p:cNvPicPr>
          <p:nvPr userDrawn="1"/>
        </p:nvPicPr>
        <p:blipFill>
          <a:blip r:embed="rId2">
            <a:extLst>
              <a:ext uri="{BEBA8EAE-BF5A-486C-A8C5-ECC9F3942E4B}">
                <a14:imgProps xmlns:a14="http://schemas.microsoft.com/office/drawing/2010/main">
                  <a14:imgLayer>
                    <a14:imgEffect>
                      <a14:colorTemperature colorTemp="11200"/>
                    </a14:imgEffect>
                    <a14:imgEffect>
                      <a14:saturation sat="110000"/>
                    </a14:imgEffect>
                    <a14:imgEffect>
                      <a14:brightnessContrast contrast="10000"/>
                    </a14:imgEffect>
                  </a14:imgLayer>
                </a14:imgProps>
              </a:ext>
            </a:extLst>
          </a:blip>
          <a:stretch>
            <a:fillRect/>
          </a:stretch>
        </p:blipFill>
        <p:spPr>
          <a:xfrm>
            <a:off x="0" y="-1"/>
            <a:ext cx="12192000" cy="8707167"/>
          </a:xfrm>
          <a:prstGeom prst="rect">
            <a:avLst/>
          </a:prstGeom>
        </p:spPr>
      </p:pic>
      <p:sp>
        <p:nvSpPr>
          <p:cNvPr id="2" name="Title 1">
            <a:extLst>
              <a:ext uri="{FF2B5EF4-FFF2-40B4-BE49-F238E27FC236}">
                <a16:creationId xmlns:a16="http://schemas.microsoft.com/office/drawing/2014/main" id="{FA791E05-DD0D-8546-BE75-FCB2E14681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BA468E-3C87-B947-8C4A-6C277773FF4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9973F4-C66D-F54A-B3A6-46F67381B135}"/>
              </a:ext>
            </a:extLst>
          </p:cNvPr>
          <p:cNvSpPr>
            <a:spLocks noGrp="1"/>
          </p:cNvSpPr>
          <p:nvPr>
            <p:ph type="dt" sz="half" idx="10"/>
          </p:nvPr>
        </p:nvSpPr>
        <p:spPr/>
        <p:txBody>
          <a:bodyPr/>
          <a:lstStyle/>
          <a:p>
            <a:fld id="{800FCC36-A01D-8640-8AEA-9131D3C1F293}" type="datetimeFigureOut">
              <a:rPr lang="en-US" smtClean="0"/>
              <a:t>4/16/25</a:t>
            </a:fld>
            <a:endParaRPr lang="en-US"/>
          </a:p>
        </p:txBody>
      </p:sp>
      <p:sp>
        <p:nvSpPr>
          <p:cNvPr id="5" name="Footer Placeholder 4">
            <a:extLst>
              <a:ext uri="{FF2B5EF4-FFF2-40B4-BE49-F238E27FC236}">
                <a16:creationId xmlns:a16="http://schemas.microsoft.com/office/drawing/2014/main" id="{8008F2E5-13D7-0943-A2C4-B9B40DB88C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8E0C02-B646-D04F-B02E-146D34CF55FF}"/>
              </a:ext>
            </a:extLst>
          </p:cNvPr>
          <p:cNvSpPr>
            <a:spLocks noGrp="1"/>
          </p:cNvSpPr>
          <p:nvPr>
            <p:ph type="sldNum" sz="quarter" idx="12"/>
          </p:nvPr>
        </p:nvSpPr>
        <p:spPr/>
        <p:txBody>
          <a:bodyPr/>
          <a:lstStyle/>
          <a:p>
            <a:fld id="{57D46262-0FC0-B643-8A3D-95E2BBC06DA2}" type="slidenum">
              <a:rPr lang="en-US" smtClean="0"/>
              <a:t>‹#›</a:t>
            </a:fld>
            <a:endParaRPr lang="en-US"/>
          </a:p>
        </p:txBody>
      </p:sp>
    </p:spTree>
    <p:extLst>
      <p:ext uri="{BB962C8B-B14F-4D97-AF65-F5344CB8AC3E}">
        <p14:creationId xmlns:p14="http://schemas.microsoft.com/office/powerpoint/2010/main" val="3456448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D2054-E5E9-BB40-9AD9-ABE904EBC9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0700CFC-AC36-514B-9E32-1AF5AD5E41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A49A302-D236-C648-A8CD-25D0E60D01E1}"/>
              </a:ext>
            </a:extLst>
          </p:cNvPr>
          <p:cNvSpPr>
            <a:spLocks noGrp="1"/>
          </p:cNvSpPr>
          <p:nvPr>
            <p:ph type="dt" sz="half" idx="10"/>
          </p:nvPr>
        </p:nvSpPr>
        <p:spPr/>
        <p:txBody>
          <a:bodyPr/>
          <a:lstStyle/>
          <a:p>
            <a:fld id="{800FCC36-A01D-8640-8AEA-9131D3C1F293}" type="datetimeFigureOut">
              <a:rPr lang="en-US" smtClean="0"/>
              <a:t>4/16/25</a:t>
            </a:fld>
            <a:endParaRPr lang="en-US"/>
          </a:p>
        </p:txBody>
      </p:sp>
      <p:sp>
        <p:nvSpPr>
          <p:cNvPr id="5" name="Footer Placeholder 4">
            <a:extLst>
              <a:ext uri="{FF2B5EF4-FFF2-40B4-BE49-F238E27FC236}">
                <a16:creationId xmlns:a16="http://schemas.microsoft.com/office/drawing/2014/main" id="{78580402-3EAC-7F4A-998D-FFA212ACBD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0AFF84-E2E3-5E40-B0A7-DC614ABFD028}"/>
              </a:ext>
            </a:extLst>
          </p:cNvPr>
          <p:cNvSpPr>
            <a:spLocks noGrp="1"/>
          </p:cNvSpPr>
          <p:nvPr>
            <p:ph type="sldNum" sz="quarter" idx="12"/>
          </p:nvPr>
        </p:nvSpPr>
        <p:spPr/>
        <p:txBody>
          <a:bodyPr/>
          <a:lstStyle/>
          <a:p>
            <a:fld id="{57D46262-0FC0-B643-8A3D-95E2BBC06DA2}" type="slidenum">
              <a:rPr lang="en-US" smtClean="0"/>
              <a:t>‹#›</a:t>
            </a:fld>
            <a:endParaRPr lang="en-US"/>
          </a:p>
        </p:txBody>
      </p:sp>
    </p:spTree>
    <p:extLst>
      <p:ext uri="{BB962C8B-B14F-4D97-AF65-F5344CB8AC3E}">
        <p14:creationId xmlns:p14="http://schemas.microsoft.com/office/powerpoint/2010/main" val="4010824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933C6-D9C0-FC47-A404-6AB33F9E74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B2CE5E-52D1-B14F-91AC-CB2CBFA09DE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2B5A98-BC1E-F745-8653-20559E70346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3D80D0C-C0C7-F94F-87E6-5913E12525FB}"/>
              </a:ext>
            </a:extLst>
          </p:cNvPr>
          <p:cNvSpPr>
            <a:spLocks noGrp="1"/>
          </p:cNvSpPr>
          <p:nvPr>
            <p:ph type="dt" sz="half" idx="10"/>
          </p:nvPr>
        </p:nvSpPr>
        <p:spPr/>
        <p:txBody>
          <a:bodyPr/>
          <a:lstStyle/>
          <a:p>
            <a:fld id="{800FCC36-A01D-8640-8AEA-9131D3C1F293}" type="datetimeFigureOut">
              <a:rPr lang="en-US" smtClean="0"/>
              <a:t>4/16/25</a:t>
            </a:fld>
            <a:endParaRPr lang="en-US"/>
          </a:p>
        </p:txBody>
      </p:sp>
      <p:sp>
        <p:nvSpPr>
          <p:cNvPr id="6" name="Footer Placeholder 5">
            <a:extLst>
              <a:ext uri="{FF2B5EF4-FFF2-40B4-BE49-F238E27FC236}">
                <a16:creationId xmlns:a16="http://schemas.microsoft.com/office/drawing/2014/main" id="{E30C580F-16B9-934E-B1A1-BAC0A8673F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11344D-5633-5849-9054-40CB7931F985}"/>
              </a:ext>
            </a:extLst>
          </p:cNvPr>
          <p:cNvSpPr>
            <a:spLocks noGrp="1"/>
          </p:cNvSpPr>
          <p:nvPr>
            <p:ph type="sldNum" sz="quarter" idx="12"/>
          </p:nvPr>
        </p:nvSpPr>
        <p:spPr/>
        <p:txBody>
          <a:bodyPr/>
          <a:lstStyle/>
          <a:p>
            <a:fld id="{57D46262-0FC0-B643-8A3D-95E2BBC06DA2}" type="slidenum">
              <a:rPr lang="en-US" smtClean="0"/>
              <a:t>‹#›</a:t>
            </a:fld>
            <a:endParaRPr lang="en-US"/>
          </a:p>
        </p:txBody>
      </p:sp>
    </p:spTree>
    <p:extLst>
      <p:ext uri="{BB962C8B-B14F-4D97-AF65-F5344CB8AC3E}">
        <p14:creationId xmlns:p14="http://schemas.microsoft.com/office/powerpoint/2010/main" val="279471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2BF22-F763-594C-BE7C-8DA05C7B894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83C36DF-BDA4-3B42-8392-1B3D96DF07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0DF64BA-6929-5542-B93B-70E2684BA48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01A0B3-62EF-554C-B675-C351CC7088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52D93F5-7246-F446-B65D-5206AEA1CBE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0A0A618-9848-FB46-92CB-E417729491D6}"/>
              </a:ext>
            </a:extLst>
          </p:cNvPr>
          <p:cNvSpPr>
            <a:spLocks noGrp="1"/>
          </p:cNvSpPr>
          <p:nvPr>
            <p:ph type="dt" sz="half" idx="10"/>
          </p:nvPr>
        </p:nvSpPr>
        <p:spPr/>
        <p:txBody>
          <a:bodyPr/>
          <a:lstStyle/>
          <a:p>
            <a:fld id="{800FCC36-A01D-8640-8AEA-9131D3C1F293}" type="datetimeFigureOut">
              <a:rPr lang="en-US" smtClean="0"/>
              <a:t>4/16/25</a:t>
            </a:fld>
            <a:endParaRPr lang="en-US"/>
          </a:p>
        </p:txBody>
      </p:sp>
      <p:sp>
        <p:nvSpPr>
          <p:cNvPr id="8" name="Footer Placeholder 7">
            <a:extLst>
              <a:ext uri="{FF2B5EF4-FFF2-40B4-BE49-F238E27FC236}">
                <a16:creationId xmlns:a16="http://schemas.microsoft.com/office/drawing/2014/main" id="{D4BBDA1D-3E1F-904C-AE8D-19B824F293D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F1C8F86-4DDC-304E-94B3-29FEDEF14735}"/>
              </a:ext>
            </a:extLst>
          </p:cNvPr>
          <p:cNvSpPr>
            <a:spLocks noGrp="1"/>
          </p:cNvSpPr>
          <p:nvPr>
            <p:ph type="sldNum" sz="quarter" idx="12"/>
          </p:nvPr>
        </p:nvSpPr>
        <p:spPr/>
        <p:txBody>
          <a:bodyPr/>
          <a:lstStyle/>
          <a:p>
            <a:fld id="{57D46262-0FC0-B643-8A3D-95E2BBC06DA2}" type="slidenum">
              <a:rPr lang="en-US" smtClean="0"/>
              <a:t>‹#›</a:t>
            </a:fld>
            <a:endParaRPr lang="en-US"/>
          </a:p>
        </p:txBody>
      </p:sp>
    </p:spTree>
    <p:extLst>
      <p:ext uri="{BB962C8B-B14F-4D97-AF65-F5344CB8AC3E}">
        <p14:creationId xmlns:p14="http://schemas.microsoft.com/office/powerpoint/2010/main" val="2858875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63380-0041-6D41-BA9E-064B40A13CC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31A4D7B-1277-3C45-A9EB-25CC11F68BE3}"/>
              </a:ext>
            </a:extLst>
          </p:cNvPr>
          <p:cNvSpPr>
            <a:spLocks noGrp="1"/>
          </p:cNvSpPr>
          <p:nvPr>
            <p:ph type="dt" sz="half" idx="10"/>
          </p:nvPr>
        </p:nvSpPr>
        <p:spPr/>
        <p:txBody>
          <a:bodyPr/>
          <a:lstStyle/>
          <a:p>
            <a:fld id="{800FCC36-A01D-8640-8AEA-9131D3C1F293}" type="datetimeFigureOut">
              <a:rPr lang="en-US" smtClean="0"/>
              <a:t>4/16/25</a:t>
            </a:fld>
            <a:endParaRPr lang="en-US"/>
          </a:p>
        </p:txBody>
      </p:sp>
      <p:sp>
        <p:nvSpPr>
          <p:cNvPr id="4" name="Footer Placeholder 3">
            <a:extLst>
              <a:ext uri="{FF2B5EF4-FFF2-40B4-BE49-F238E27FC236}">
                <a16:creationId xmlns:a16="http://schemas.microsoft.com/office/drawing/2014/main" id="{07D8E819-45F4-2840-B04B-7C28094978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4591647-F1E6-E34D-ACC9-2C748E4FB5AC}"/>
              </a:ext>
            </a:extLst>
          </p:cNvPr>
          <p:cNvSpPr>
            <a:spLocks noGrp="1"/>
          </p:cNvSpPr>
          <p:nvPr>
            <p:ph type="sldNum" sz="quarter" idx="12"/>
          </p:nvPr>
        </p:nvSpPr>
        <p:spPr/>
        <p:txBody>
          <a:bodyPr/>
          <a:lstStyle/>
          <a:p>
            <a:fld id="{57D46262-0FC0-B643-8A3D-95E2BBC06DA2}" type="slidenum">
              <a:rPr lang="en-US" smtClean="0"/>
              <a:t>‹#›</a:t>
            </a:fld>
            <a:endParaRPr lang="en-US"/>
          </a:p>
        </p:txBody>
      </p:sp>
    </p:spTree>
    <p:extLst>
      <p:ext uri="{BB962C8B-B14F-4D97-AF65-F5344CB8AC3E}">
        <p14:creationId xmlns:p14="http://schemas.microsoft.com/office/powerpoint/2010/main" val="1785129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EA6228-D785-4242-858A-B4DBB4EF0092}"/>
              </a:ext>
            </a:extLst>
          </p:cNvPr>
          <p:cNvSpPr>
            <a:spLocks noGrp="1"/>
          </p:cNvSpPr>
          <p:nvPr>
            <p:ph type="dt" sz="half" idx="10"/>
          </p:nvPr>
        </p:nvSpPr>
        <p:spPr/>
        <p:txBody>
          <a:bodyPr/>
          <a:lstStyle/>
          <a:p>
            <a:fld id="{800FCC36-A01D-8640-8AEA-9131D3C1F293}" type="datetimeFigureOut">
              <a:rPr lang="en-US" smtClean="0"/>
              <a:t>4/16/25</a:t>
            </a:fld>
            <a:endParaRPr lang="en-US"/>
          </a:p>
        </p:txBody>
      </p:sp>
      <p:sp>
        <p:nvSpPr>
          <p:cNvPr id="3" name="Footer Placeholder 2">
            <a:extLst>
              <a:ext uri="{FF2B5EF4-FFF2-40B4-BE49-F238E27FC236}">
                <a16:creationId xmlns:a16="http://schemas.microsoft.com/office/drawing/2014/main" id="{E23F7E1D-E74D-7042-AA00-B5DF530C11E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A89C615-8AD8-7B4D-862A-98EE1FC06E1B}"/>
              </a:ext>
            </a:extLst>
          </p:cNvPr>
          <p:cNvSpPr>
            <a:spLocks noGrp="1"/>
          </p:cNvSpPr>
          <p:nvPr>
            <p:ph type="sldNum" sz="quarter" idx="12"/>
          </p:nvPr>
        </p:nvSpPr>
        <p:spPr/>
        <p:txBody>
          <a:bodyPr/>
          <a:lstStyle/>
          <a:p>
            <a:fld id="{57D46262-0FC0-B643-8A3D-95E2BBC06DA2}" type="slidenum">
              <a:rPr lang="en-US" smtClean="0"/>
              <a:t>‹#›</a:t>
            </a:fld>
            <a:endParaRPr lang="en-US"/>
          </a:p>
        </p:txBody>
      </p:sp>
    </p:spTree>
    <p:extLst>
      <p:ext uri="{BB962C8B-B14F-4D97-AF65-F5344CB8AC3E}">
        <p14:creationId xmlns:p14="http://schemas.microsoft.com/office/powerpoint/2010/main" val="2265396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A52A4-BDC8-9246-B22E-1FDE7CC25E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96DCC80-C7BB-5747-877B-C4A29A2930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9AAA0A-FA28-8642-AAA4-090AA51644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25AC21B-4BB7-0F4A-8873-588F15A549D5}"/>
              </a:ext>
            </a:extLst>
          </p:cNvPr>
          <p:cNvSpPr>
            <a:spLocks noGrp="1"/>
          </p:cNvSpPr>
          <p:nvPr>
            <p:ph type="dt" sz="half" idx="10"/>
          </p:nvPr>
        </p:nvSpPr>
        <p:spPr/>
        <p:txBody>
          <a:bodyPr/>
          <a:lstStyle/>
          <a:p>
            <a:fld id="{800FCC36-A01D-8640-8AEA-9131D3C1F293}" type="datetimeFigureOut">
              <a:rPr lang="en-US" smtClean="0"/>
              <a:t>4/16/25</a:t>
            </a:fld>
            <a:endParaRPr lang="en-US"/>
          </a:p>
        </p:txBody>
      </p:sp>
      <p:sp>
        <p:nvSpPr>
          <p:cNvPr id="6" name="Footer Placeholder 5">
            <a:extLst>
              <a:ext uri="{FF2B5EF4-FFF2-40B4-BE49-F238E27FC236}">
                <a16:creationId xmlns:a16="http://schemas.microsoft.com/office/drawing/2014/main" id="{CD32CA4A-7D52-154C-B32D-99CD90477E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00A4B8-173F-994B-90F1-30E1313D8E6E}"/>
              </a:ext>
            </a:extLst>
          </p:cNvPr>
          <p:cNvSpPr>
            <a:spLocks noGrp="1"/>
          </p:cNvSpPr>
          <p:nvPr>
            <p:ph type="sldNum" sz="quarter" idx="12"/>
          </p:nvPr>
        </p:nvSpPr>
        <p:spPr/>
        <p:txBody>
          <a:bodyPr/>
          <a:lstStyle/>
          <a:p>
            <a:fld id="{57D46262-0FC0-B643-8A3D-95E2BBC06DA2}" type="slidenum">
              <a:rPr lang="en-US" smtClean="0"/>
              <a:t>‹#›</a:t>
            </a:fld>
            <a:endParaRPr lang="en-US"/>
          </a:p>
        </p:txBody>
      </p:sp>
    </p:spTree>
    <p:extLst>
      <p:ext uri="{BB962C8B-B14F-4D97-AF65-F5344CB8AC3E}">
        <p14:creationId xmlns:p14="http://schemas.microsoft.com/office/powerpoint/2010/main" val="1348989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FBC51-F260-5343-9291-EE61DC160D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0935EFD-1DC8-1D43-B0EF-93E2FC7FC6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62F071-E24B-0D4A-AB29-37DBFFD609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9CC7D60-3F95-134C-9998-5E80F72F3C4D}"/>
              </a:ext>
            </a:extLst>
          </p:cNvPr>
          <p:cNvSpPr>
            <a:spLocks noGrp="1"/>
          </p:cNvSpPr>
          <p:nvPr>
            <p:ph type="dt" sz="half" idx="10"/>
          </p:nvPr>
        </p:nvSpPr>
        <p:spPr/>
        <p:txBody>
          <a:bodyPr/>
          <a:lstStyle/>
          <a:p>
            <a:fld id="{800FCC36-A01D-8640-8AEA-9131D3C1F293}" type="datetimeFigureOut">
              <a:rPr lang="en-US" smtClean="0"/>
              <a:t>4/16/25</a:t>
            </a:fld>
            <a:endParaRPr lang="en-US"/>
          </a:p>
        </p:txBody>
      </p:sp>
      <p:sp>
        <p:nvSpPr>
          <p:cNvPr id="6" name="Footer Placeholder 5">
            <a:extLst>
              <a:ext uri="{FF2B5EF4-FFF2-40B4-BE49-F238E27FC236}">
                <a16:creationId xmlns:a16="http://schemas.microsoft.com/office/drawing/2014/main" id="{802F4740-22E1-004E-87AB-C2E8A8F9BA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E8F3E0-1D47-014E-8C41-2A29400681BD}"/>
              </a:ext>
            </a:extLst>
          </p:cNvPr>
          <p:cNvSpPr>
            <a:spLocks noGrp="1"/>
          </p:cNvSpPr>
          <p:nvPr>
            <p:ph type="sldNum" sz="quarter" idx="12"/>
          </p:nvPr>
        </p:nvSpPr>
        <p:spPr/>
        <p:txBody>
          <a:bodyPr/>
          <a:lstStyle/>
          <a:p>
            <a:fld id="{57D46262-0FC0-B643-8A3D-95E2BBC06DA2}" type="slidenum">
              <a:rPr lang="en-US" smtClean="0"/>
              <a:t>‹#›</a:t>
            </a:fld>
            <a:endParaRPr lang="en-US"/>
          </a:p>
        </p:txBody>
      </p:sp>
    </p:spTree>
    <p:extLst>
      <p:ext uri="{BB962C8B-B14F-4D97-AF65-F5344CB8AC3E}">
        <p14:creationId xmlns:p14="http://schemas.microsoft.com/office/powerpoint/2010/main" val="28245302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095FE-267D-174F-B49A-609A5BC0384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DB1FCA3-305A-D141-9CE2-0DB0D6B6F16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B97FED-FC92-0C44-A7BB-615BB5A44428}"/>
              </a:ext>
            </a:extLst>
          </p:cNvPr>
          <p:cNvSpPr>
            <a:spLocks noGrp="1"/>
          </p:cNvSpPr>
          <p:nvPr>
            <p:ph type="dt" sz="half" idx="10"/>
          </p:nvPr>
        </p:nvSpPr>
        <p:spPr/>
        <p:txBody>
          <a:bodyPr/>
          <a:lstStyle/>
          <a:p>
            <a:fld id="{800FCC36-A01D-8640-8AEA-9131D3C1F293}" type="datetimeFigureOut">
              <a:rPr lang="en-US" smtClean="0"/>
              <a:t>4/16/25</a:t>
            </a:fld>
            <a:endParaRPr lang="en-US"/>
          </a:p>
        </p:txBody>
      </p:sp>
      <p:sp>
        <p:nvSpPr>
          <p:cNvPr id="5" name="Footer Placeholder 4">
            <a:extLst>
              <a:ext uri="{FF2B5EF4-FFF2-40B4-BE49-F238E27FC236}">
                <a16:creationId xmlns:a16="http://schemas.microsoft.com/office/drawing/2014/main" id="{39E5506C-4D2E-9D40-A0D7-9693E8AB41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A0C240-A512-834C-B2FE-5B1E8DE282DE}"/>
              </a:ext>
            </a:extLst>
          </p:cNvPr>
          <p:cNvSpPr>
            <a:spLocks noGrp="1"/>
          </p:cNvSpPr>
          <p:nvPr>
            <p:ph type="sldNum" sz="quarter" idx="12"/>
          </p:nvPr>
        </p:nvSpPr>
        <p:spPr/>
        <p:txBody>
          <a:bodyPr/>
          <a:lstStyle/>
          <a:p>
            <a:fld id="{57D46262-0FC0-B643-8A3D-95E2BBC06DA2}" type="slidenum">
              <a:rPr lang="en-US" smtClean="0"/>
              <a:t>‹#›</a:t>
            </a:fld>
            <a:endParaRPr lang="en-US"/>
          </a:p>
        </p:txBody>
      </p:sp>
    </p:spTree>
    <p:extLst>
      <p:ext uri="{BB962C8B-B14F-4D97-AF65-F5344CB8AC3E}">
        <p14:creationId xmlns:p14="http://schemas.microsoft.com/office/powerpoint/2010/main" val="3773515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578579-4844-074E-A06F-14654632DB7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DAC01BB-6F57-0B44-B936-B9263BC7BED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791230-F826-BC46-9E38-DC125F7A3849}"/>
              </a:ext>
            </a:extLst>
          </p:cNvPr>
          <p:cNvSpPr>
            <a:spLocks noGrp="1"/>
          </p:cNvSpPr>
          <p:nvPr>
            <p:ph type="dt" sz="half" idx="10"/>
          </p:nvPr>
        </p:nvSpPr>
        <p:spPr/>
        <p:txBody>
          <a:bodyPr/>
          <a:lstStyle/>
          <a:p>
            <a:fld id="{800FCC36-A01D-8640-8AEA-9131D3C1F293}" type="datetimeFigureOut">
              <a:rPr lang="en-US" smtClean="0"/>
              <a:t>4/16/25</a:t>
            </a:fld>
            <a:endParaRPr lang="en-US"/>
          </a:p>
        </p:txBody>
      </p:sp>
      <p:sp>
        <p:nvSpPr>
          <p:cNvPr id="5" name="Footer Placeholder 4">
            <a:extLst>
              <a:ext uri="{FF2B5EF4-FFF2-40B4-BE49-F238E27FC236}">
                <a16:creationId xmlns:a16="http://schemas.microsoft.com/office/drawing/2014/main" id="{674535D5-3A20-C24C-AFC4-F5140E07D5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AC04E3-212C-ED46-9270-B0C3DCEE4EDB}"/>
              </a:ext>
            </a:extLst>
          </p:cNvPr>
          <p:cNvSpPr>
            <a:spLocks noGrp="1"/>
          </p:cNvSpPr>
          <p:nvPr>
            <p:ph type="sldNum" sz="quarter" idx="12"/>
          </p:nvPr>
        </p:nvSpPr>
        <p:spPr/>
        <p:txBody>
          <a:bodyPr/>
          <a:lstStyle/>
          <a:p>
            <a:fld id="{57D46262-0FC0-B643-8A3D-95E2BBC06DA2}" type="slidenum">
              <a:rPr lang="en-US" smtClean="0"/>
              <a:t>‹#›</a:t>
            </a:fld>
            <a:endParaRPr lang="en-US"/>
          </a:p>
        </p:txBody>
      </p:sp>
    </p:spTree>
    <p:extLst>
      <p:ext uri="{BB962C8B-B14F-4D97-AF65-F5344CB8AC3E}">
        <p14:creationId xmlns:p14="http://schemas.microsoft.com/office/powerpoint/2010/main" val="1947247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83911E-D460-E642-ACAB-E01D97F6F3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2EFDCFD-ACC8-0946-AE56-C2934461AF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6D4023-351B-AB40-B751-0CC95E6D12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0FCC36-A01D-8640-8AEA-9131D3C1F293}" type="datetimeFigureOut">
              <a:rPr lang="en-US" smtClean="0"/>
              <a:t>4/16/25</a:t>
            </a:fld>
            <a:endParaRPr lang="en-US"/>
          </a:p>
        </p:txBody>
      </p:sp>
      <p:sp>
        <p:nvSpPr>
          <p:cNvPr id="5" name="Footer Placeholder 4">
            <a:extLst>
              <a:ext uri="{FF2B5EF4-FFF2-40B4-BE49-F238E27FC236}">
                <a16:creationId xmlns:a16="http://schemas.microsoft.com/office/drawing/2014/main" id="{8A76357E-F3AC-FD40-9F53-AEB8227D96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FF9C4B8-D7AA-6446-9458-9F30C127E2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D46262-0FC0-B643-8A3D-95E2BBC06DA2}" type="slidenum">
              <a:rPr lang="en-US" smtClean="0"/>
              <a:t>‹#›</a:t>
            </a:fld>
            <a:endParaRPr lang="en-US"/>
          </a:p>
        </p:txBody>
      </p:sp>
    </p:spTree>
    <p:extLst>
      <p:ext uri="{BB962C8B-B14F-4D97-AF65-F5344CB8AC3E}">
        <p14:creationId xmlns:p14="http://schemas.microsoft.com/office/powerpoint/2010/main" val="29188948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 Id="rId9" Type="http://schemas.openxmlformats.org/officeDocument/2006/relationships/image" Target="../media/image13.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t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t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5DA9182-4BEA-0E4E-97D3-70B305CA4414}"/>
              </a:ext>
            </a:extLst>
          </p:cNvPr>
          <p:cNvSpPr txBox="1"/>
          <p:nvPr/>
        </p:nvSpPr>
        <p:spPr>
          <a:xfrm>
            <a:off x="3352715" y="699114"/>
            <a:ext cx="4784651" cy="954107"/>
          </a:xfrm>
          <a:prstGeom prst="rect">
            <a:avLst/>
          </a:prstGeom>
          <a:noFill/>
        </p:spPr>
        <p:txBody>
          <a:bodyPr wrap="square" rtlCol="0">
            <a:spAutoFit/>
          </a:bodyPr>
          <a:lstStyle/>
          <a:p>
            <a:pPr algn="ctr"/>
            <a:r>
              <a:rPr lang="en-US" sz="2800" b="1" dirty="0" err="1">
                <a:ln w="0"/>
                <a:solidFill>
                  <a:schemeClr val="tx1">
                    <a:lumMod val="5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Khwaja</a:t>
            </a:r>
            <a:r>
              <a:rPr lang="en-US" sz="2800" b="1" dirty="0">
                <a:ln w="0"/>
                <a:solidFill>
                  <a:schemeClr val="tx1">
                    <a:lumMod val="5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en-US" sz="2800" b="1" dirty="0" err="1">
                <a:ln w="0"/>
                <a:solidFill>
                  <a:schemeClr val="tx1">
                    <a:lumMod val="5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Yunus</a:t>
            </a:r>
            <a:r>
              <a:rPr lang="en-US" sz="2800" b="1" dirty="0">
                <a:ln w="0"/>
                <a:solidFill>
                  <a:schemeClr val="tx1">
                    <a:lumMod val="5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Ali University</a:t>
            </a:r>
            <a:br>
              <a:rPr lang="en-US" sz="2800" dirty="0">
                <a:solidFill>
                  <a:schemeClr val="tx1">
                    <a:lumMod val="50000"/>
                  </a:schemeClr>
                </a:solidFill>
                <a:latin typeface="Times New Roman" panose="02020603050405020304" pitchFamily="18" charset="0"/>
                <a:cs typeface="Times New Roman" panose="02020603050405020304" pitchFamily="18" charset="0"/>
              </a:rPr>
            </a:br>
            <a:r>
              <a:rPr lang="en-US" sz="2800" dirty="0">
                <a:solidFill>
                  <a:schemeClr val="tx1">
                    <a:lumMod val="50000"/>
                  </a:schemeClr>
                </a:solidFill>
                <a:latin typeface="Times New Roman" panose="02020603050405020304" pitchFamily="18" charset="0"/>
                <a:cs typeface="Times New Roman" panose="02020603050405020304" pitchFamily="18" charset="0"/>
              </a:rPr>
              <a:t>     </a:t>
            </a:r>
            <a:r>
              <a:rPr lang="en-US" sz="2400" b="1" dirty="0">
                <a:ln w="0"/>
                <a:solidFill>
                  <a:schemeClr val="tx1">
                    <a:lumMod val="5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Department of Pharmacy</a:t>
            </a:r>
            <a:endParaRPr lang="en-US" sz="2400" b="1" dirty="0"/>
          </a:p>
        </p:txBody>
      </p:sp>
      <p:pic>
        <p:nvPicPr>
          <p:cNvPr id="7" name="Picture 6">
            <a:extLst>
              <a:ext uri="{FF2B5EF4-FFF2-40B4-BE49-F238E27FC236}">
                <a16:creationId xmlns:a16="http://schemas.microsoft.com/office/drawing/2014/main" id="{773CED24-1E62-5F4C-A574-3007DA3E12F2}"/>
              </a:ext>
            </a:extLst>
          </p:cNvPr>
          <p:cNvPicPr>
            <a:picLocks noChangeAspect="1"/>
          </p:cNvPicPr>
          <p:nvPr/>
        </p:nvPicPr>
        <p:blipFill>
          <a:blip r:embed="rId2"/>
          <a:stretch>
            <a:fillRect/>
          </a:stretch>
        </p:blipFill>
        <p:spPr>
          <a:xfrm>
            <a:off x="1206996" y="183419"/>
            <a:ext cx="1947317" cy="1947317"/>
          </a:xfrm>
          <a:prstGeom prst="rect">
            <a:avLst/>
          </a:prstGeom>
        </p:spPr>
      </p:pic>
      <p:sp>
        <p:nvSpPr>
          <p:cNvPr id="8" name="TextBox 7">
            <a:extLst>
              <a:ext uri="{FF2B5EF4-FFF2-40B4-BE49-F238E27FC236}">
                <a16:creationId xmlns:a16="http://schemas.microsoft.com/office/drawing/2014/main" id="{9AB0DAFF-7282-F64D-B403-833784703C53}"/>
              </a:ext>
            </a:extLst>
          </p:cNvPr>
          <p:cNvSpPr txBox="1"/>
          <p:nvPr/>
        </p:nvSpPr>
        <p:spPr>
          <a:xfrm>
            <a:off x="3858627" y="4279769"/>
            <a:ext cx="3772826" cy="2677656"/>
          </a:xfrm>
          <a:prstGeom prst="rect">
            <a:avLst/>
          </a:prstGeom>
          <a:noFill/>
        </p:spPr>
        <p:txBody>
          <a:bodyPr wrap="square" rtlCol="0">
            <a:spAutoFit/>
          </a:bodyPr>
          <a:lstStyle/>
          <a:p>
            <a:pPr algn="ctr"/>
            <a:r>
              <a:rPr lang="en-US" sz="2400" b="1" dirty="0">
                <a:solidFill>
                  <a:schemeClr val="tx1">
                    <a:lumMod val="50000"/>
                  </a:schemeClr>
                </a:solidFill>
                <a:latin typeface="Times New Roman" panose="02020603050405020304" pitchFamily="18" charset="0"/>
                <a:cs typeface="Times New Roman" panose="02020603050405020304" pitchFamily="18" charset="0"/>
              </a:rPr>
              <a:t>Submitted By </a:t>
            </a:r>
          </a:p>
          <a:p>
            <a:pPr algn="ctr"/>
            <a:r>
              <a:rPr lang="en-US" sz="1800" b="1" dirty="0" err="1">
                <a:solidFill>
                  <a:schemeClr val="accent6">
                    <a:lumMod val="50000"/>
                  </a:schemeClr>
                </a:solidFill>
                <a:latin typeface="Times New Roman" panose="02020603050405020304" pitchFamily="18" charset="0"/>
                <a:cs typeface="Times New Roman" panose="02020603050405020304" pitchFamily="18" charset="0"/>
              </a:rPr>
              <a:t>Fahmida</a:t>
            </a:r>
            <a:r>
              <a:rPr lang="en-US" sz="1800" b="1" dirty="0">
                <a:solidFill>
                  <a:schemeClr val="accent6">
                    <a:lumMod val="50000"/>
                  </a:schemeClr>
                </a:solidFill>
                <a:latin typeface="Times New Roman" panose="02020603050405020304" pitchFamily="18" charset="0"/>
                <a:cs typeface="Times New Roman" panose="02020603050405020304" pitchFamily="18" charset="0"/>
              </a:rPr>
              <a:t> </a:t>
            </a:r>
            <a:r>
              <a:rPr lang="en-US" sz="1800" b="1" dirty="0" err="1">
                <a:solidFill>
                  <a:schemeClr val="accent6">
                    <a:lumMod val="50000"/>
                  </a:schemeClr>
                </a:solidFill>
                <a:latin typeface="Times New Roman" panose="02020603050405020304" pitchFamily="18" charset="0"/>
                <a:cs typeface="Times New Roman" panose="02020603050405020304" pitchFamily="18" charset="0"/>
              </a:rPr>
              <a:t>Anam</a:t>
            </a:r>
            <a:r>
              <a:rPr lang="en-US" sz="1800" b="1" dirty="0">
                <a:solidFill>
                  <a:schemeClr val="accent6">
                    <a:lumMod val="50000"/>
                  </a:schemeClr>
                </a:solidFill>
                <a:latin typeface="Times New Roman" panose="02020603050405020304" pitchFamily="18" charset="0"/>
                <a:cs typeface="Times New Roman" panose="02020603050405020304" pitchFamily="18" charset="0"/>
              </a:rPr>
              <a:t> Mithila</a:t>
            </a:r>
          </a:p>
          <a:p>
            <a:pPr algn="ctr"/>
            <a:r>
              <a:rPr lang="en-US" b="1" dirty="0">
                <a:solidFill>
                  <a:schemeClr val="accent6">
                    <a:lumMod val="50000"/>
                  </a:schemeClr>
                </a:solidFill>
                <a:latin typeface="Times New Roman" panose="02020603050405020304" pitchFamily="18" charset="0"/>
                <a:cs typeface="Times New Roman" panose="02020603050405020304" pitchFamily="18" charset="0"/>
              </a:rPr>
              <a:t>ID: 0622030211091001</a:t>
            </a:r>
          </a:p>
          <a:p>
            <a:pPr algn="ctr"/>
            <a:r>
              <a:rPr lang="en-US" b="1" dirty="0">
                <a:solidFill>
                  <a:schemeClr val="accent6">
                    <a:lumMod val="50000"/>
                  </a:schemeClr>
                </a:solidFill>
                <a:latin typeface="Times New Roman" panose="02020603050405020304" pitchFamily="18" charset="0"/>
                <a:cs typeface="Times New Roman" panose="02020603050405020304" pitchFamily="18" charset="0"/>
              </a:rPr>
              <a:t>Semester: </a:t>
            </a:r>
            <a:r>
              <a:rPr lang="en-US" dirty="0">
                <a:solidFill>
                  <a:schemeClr val="accent6">
                    <a:lumMod val="50000"/>
                  </a:schemeClr>
                </a:solidFill>
                <a:latin typeface="Times New Roman" panose="02020603050405020304" pitchFamily="18" charset="0"/>
                <a:cs typeface="Times New Roman" panose="02020603050405020304" pitchFamily="18" charset="0"/>
              </a:rPr>
              <a:t>Summer 2024</a:t>
            </a:r>
          </a:p>
          <a:p>
            <a:pPr algn="ctr"/>
            <a:r>
              <a:rPr lang="en-US" b="1" dirty="0">
                <a:solidFill>
                  <a:schemeClr val="accent6">
                    <a:lumMod val="50000"/>
                  </a:schemeClr>
                </a:solidFill>
                <a:latin typeface="Times New Roman" panose="02020603050405020304" pitchFamily="18" charset="0"/>
                <a:cs typeface="Times New Roman" panose="02020603050405020304" pitchFamily="18" charset="0"/>
              </a:rPr>
              <a:t>Batch: </a:t>
            </a:r>
            <a:r>
              <a:rPr lang="en-US" dirty="0">
                <a:solidFill>
                  <a:schemeClr val="accent6">
                    <a:lumMod val="50000"/>
                  </a:schemeClr>
                </a:solidFill>
                <a:latin typeface="Times New Roman" panose="02020603050405020304" pitchFamily="18" charset="0"/>
                <a:cs typeface="Times New Roman" panose="02020603050405020304" pitchFamily="18" charset="0"/>
              </a:rPr>
              <a:t>15</a:t>
            </a:r>
            <a:r>
              <a:rPr lang="en-US" baseline="30000" dirty="0">
                <a:solidFill>
                  <a:schemeClr val="accent6">
                    <a:lumMod val="50000"/>
                  </a:schemeClr>
                </a:solidFill>
                <a:latin typeface="Times New Roman" panose="02020603050405020304" pitchFamily="18" charset="0"/>
                <a:cs typeface="Times New Roman" panose="02020603050405020304" pitchFamily="18" charset="0"/>
              </a:rPr>
              <a:t>th</a:t>
            </a:r>
            <a:r>
              <a:rPr lang="en-US" dirty="0">
                <a:solidFill>
                  <a:schemeClr val="accent6">
                    <a:lumMod val="50000"/>
                  </a:schemeClr>
                </a:solidFill>
                <a:latin typeface="Times New Roman" panose="02020603050405020304" pitchFamily="18" charset="0"/>
                <a:cs typeface="Times New Roman" panose="02020603050405020304" pitchFamily="18" charset="0"/>
              </a:rPr>
              <a:t> </a:t>
            </a:r>
          </a:p>
          <a:p>
            <a:pPr algn="ctr"/>
            <a:endParaRPr lang="en-US" dirty="0">
              <a:latin typeface="Times New Roman" panose="02020603050405020304" pitchFamily="18" charset="0"/>
              <a:cs typeface="Times New Roman" panose="02020603050405020304" pitchFamily="18" charset="0"/>
            </a:endParaRPr>
          </a:p>
          <a:p>
            <a:pPr algn="ctr"/>
            <a:r>
              <a:rPr lang="en-US" b="1" dirty="0">
                <a:solidFill>
                  <a:schemeClr val="accent6">
                    <a:lumMod val="50000"/>
                  </a:schemeClr>
                </a:solidFill>
                <a:latin typeface="Times New Roman" panose="02020603050405020304" pitchFamily="18" charset="0"/>
                <a:cs typeface="Times New Roman" panose="02020603050405020304" pitchFamily="18" charset="0"/>
              </a:rPr>
              <a:t>Department of Pharmacy</a:t>
            </a:r>
          </a:p>
          <a:p>
            <a:pPr algn="ctr"/>
            <a:r>
              <a:rPr lang="en-US" b="1" dirty="0" err="1">
                <a:solidFill>
                  <a:schemeClr val="accent6">
                    <a:lumMod val="50000"/>
                  </a:schemeClr>
                </a:solidFill>
                <a:latin typeface="Times New Roman" panose="02020603050405020304" pitchFamily="18" charset="0"/>
                <a:cs typeface="Times New Roman" panose="02020603050405020304" pitchFamily="18" charset="0"/>
              </a:rPr>
              <a:t>Khwaja</a:t>
            </a:r>
            <a:r>
              <a:rPr lang="en-US" b="1" dirty="0">
                <a:solidFill>
                  <a:schemeClr val="accent6">
                    <a:lumMod val="50000"/>
                  </a:schemeClr>
                </a:solidFill>
                <a:latin typeface="Times New Roman" panose="02020603050405020304" pitchFamily="18" charset="0"/>
                <a:cs typeface="Times New Roman" panose="02020603050405020304" pitchFamily="18" charset="0"/>
              </a:rPr>
              <a:t> </a:t>
            </a:r>
            <a:r>
              <a:rPr lang="en-US" b="1" dirty="0" err="1">
                <a:solidFill>
                  <a:schemeClr val="accent6">
                    <a:lumMod val="50000"/>
                  </a:schemeClr>
                </a:solidFill>
                <a:latin typeface="Times New Roman" panose="02020603050405020304" pitchFamily="18" charset="0"/>
                <a:cs typeface="Times New Roman" panose="02020603050405020304" pitchFamily="18" charset="0"/>
              </a:rPr>
              <a:t>Yunus</a:t>
            </a:r>
            <a:r>
              <a:rPr lang="en-US" b="1" dirty="0">
                <a:solidFill>
                  <a:schemeClr val="accent6">
                    <a:lumMod val="50000"/>
                  </a:schemeClr>
                </a:solidFill>
                <a:latin typeface="Times New Roman" panose="02020603050405020304" pitchFamily="18" charset="0"/>
                <a:cs typeface="Times New Roman" panose="02020603050405020304" pitchFamily="18" charset="0"/>
              </a:rPr>
              <a:t> Ali University</a:t>
            </a:r>
          </a:p>
          <a:p>
            <a:endParaRPr lang="en-US" dirty="0"/>
          </a:p>
        </p:txBody>
      </p:sp>
      <p:sp>
        <p:nvSpPr>
          <p:cNvPr id="10" name="TextBox 9">
            <a:extLst>
              <a:ext uri="{FF2B5EF4-FFF2-40B4-BE49-F238E27FC236}">
                <a16:creationId xmlns:a16="http://schemas.microsoft.com/office/drawing/2014/main" id="{1ECB1750-EE99-1D42-9C6A-FE1F38F2437C}"/>
              </a:ext>
            </a:extLst>
          </p:cNvPr>
          <p:cNvSpPr txBox="1"/>
          <p:nvPr/>
        </p:nvSpPr>
        <p:spPr>
          <a:xfrm>
            <a:off x="1362975" y="2081095"/>
            <a:ext cx="2861007" cy="523220"/>
          </a:xfrm>
          <a:prstGeom prst="rect">
            <a:avLst/>
          </a:prstGeom>
          <a:noFill/>
        </p:spPr>
        <p:txBody>
          <a:bodyPr wrap="square" rtlCol="0">
            <a:spAutoFit/>
          </a:bodyPr>
          <a:lstStyle/>
          <a:p>
            <a:r>
              <a:rPr lang="en-US" sz="2800" dirty="0">
                <a:ln w="0"/>
                <a:solidFill>
                  <a:schemeClr val="tx1">
                    <a:lumMod val="95000"/>
                    <a:lumOff val="5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Research</a:t>
            </a:r>
            <a:r>
              <a:rPr lang="en-US" dirty="0">
                <a:solidFill>
                  <a:schemeClr val="tx1">
                    <a:lumMod val="95000"/>
                    <a:lumOff val="5000"/>
                  </a:schemeClr>
                </a:solidFill>
              </a:rPr>
              <a:t> </a:t>
            </a:r>
            <a:r>
              <a:rPr lang="en-US" sz="2800" dirty="0">
                <a:ln w="0"/>
                <a:solidFill>
                  <a:schemeClr val="tx1">
                    <a:lumMod val="95000"/>
                    <a:lumOff val="5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Title</a:t>
            </a:r>
            <a:r>
              <a:rPr lang="en-US" dirty="0">
                <a:solidFill>
                  <a:schemeClr val="tx1">
                    <a:lumMod val="95000"/>
                    <a:lumOff val="5000"/>
                  </a:schemeClr>
                </a:solidFill>
              </a:rPr>
              <a:t>: </a:t>
            </a:r>
          </a:p>
        </p:txBody>
      </p:sp>
      <p:sp>
        <p:nvSpPr>
          <p:cNvPr id="11" name="TextBox 10">
            <a:extLst>
              <a:ext uri="{FF2B5EF4-FFF2-40B4-BE49-F238E27FC236}">
                <a16:creationId xmlns:a16="http://schemas.microsoft.com/office/drawing/2014/main" id="{FEF83CDC-56B4-7940-9077-7CE32F1E354A}"/>
              </a:ext>
            </a:extLst>
          </p:cNvPr>
          <p:cNvSpPr txBox="1"/>
          <p:nvPr/>
        </p:nvSpPr>
        <p:spPr>
          <a:xfrm>
            <a:off x="1362975" y="2552044"/>
            <a:ext cx="8272732" cy="954107"/>
          </a:xfrm>
          <a:prstGeom prst="rect">
            <a:avLst/>
          </a:prstGeom>
          <a:noFill/>
        </p:spPr>
        <p:txBody>
          <a:bodyPr wrap="square" rtlCol="0">
            <a:spAutoFit/>
          </a:bodyPr>
          <a:lstStyle/>
          <a:p>
            <a:r>
              <a:rPr lang="en-US" sz="2800" b="1" dirty="0">
                <a:ln w="0"/>
                <a:solidFill>
                  <a:schemeClr val="accent6">
                    <a:lumMod val="5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Antioxidant Activity of Aqueous Extract of </a:t>
            </a:r>
          </a:p>
          <a:p>
            <a:r>
              <a:rPr lang="en-US" sz="2800" b="1" dirty="0">
                <a:ln w="0"/>
                <a:solidFill>
                  <a:schemeClr val="accent6">
                    <a:lumMod val="5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Pericarp of </a:t>
            </a:r>
            <a:r>
              <a:rPr lang="en-US" sz="2800" b="1" i="1" dirty="0">
                <a:ln w="0"/>
                <a:solidFill>
                  <a:schemeClr val="accent6">
                    <a:lumMod val="5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Luffa </a:t>
            </a:r>
            <a:r>
              <a:rPr lang="en-US" sz="2800" b="1" i="1" dirty="0" err="1">
                <a:ln w="0"/>
                <a:solidFill>
                  <a:schemeClr val="accent6">
                    <a:lumMod val="5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aegyptiaca</a:t>
            </a:r>
            <a:r>
              <a:rPr lang="en-US" sz="2800" b="1" i="1" dirty="0">
                <a:ln w="0"/>
                <a:solidFill>
                  <a:schemeClr val="accent6">
                    <a:lumMod val="5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en-US" sz="2800" b="1" dirty="0">
                <a:ln w="0"/>
                <a:solidFill>
                  <a:schemeClr val="accent6">
                    <a:lumMod val="5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(Sponge Gourd)</a:t>
            </a:r>
          </a:p>
        </p:txBody>
      </p:sp>
      <p:pic>
        <p:nvPicPr>
          <p:cNvPr id="12" name="Google Shape;275;p37">
            <a:extLst>
              <a:ext uri="{FF2B5EF4-FFF2-40B4-BE49-F238E27FC236}">
                <a16:creationId xmlns:a16="http://schemas.microsoft.com/office/drawing/2014/main" id="{FC6FE8DF-DEF8-6948-9E2C-4E92B7060CAF}"/>
              </a:ext>
            </a:extLst>
          </p:cNvPr>
          <p:cNvPicPr preferRelativeResize="0"/>
          <p:nvPr/>
        </p:nvPicPr>
        <p:blipFill>
          <a:blip r:embed="rId3">
            <a:alphaModFix/>
            <a:extLst>
              <a:ext uri="{BEBA8EAE-BF5A-486C-A8C5-ECC9F3942E4B}">
                <a14:imgProps xmlns:a14="http://schemas.microsoft.com/office/drawing/2010/main">
                  <a14:imgLayer>
                    <a14:imgEffect>
                      <a14:colorTemperature colorTemp="2812"/>
                    </a14:imgEffect>
                    <a14:imgEffect>
                      <a14:saturation sat="290000"/>
                    </a14:imgEffect>
                  </a14:imgLayer>
                </a14:imgProps>
              </a:ext>
            </a:extLst>
          </a:blip>
          <a:stretch>
            <a:fillRect/>
          </a:stretch>
        </p:blipFill>
        <p:spPr>
          <a:xfrm>
            <a:off x="8807570" y="231204"/>
            <a:ext cx="3091134" cy="3107219"/>
          </a:xfrm>
          <a:prstGeom prst="rect">
            <a:avLst/>
          </a:prstGeom>
          <a:noFill/>
          <a:ln>
            <a:noFill/>
          </a:ln>
        </p:spPr>
      </p:pic>
      <p:pic>
        <p:nvPicPr>
          <p:cNvPr id="14" name="Picture 13">
            <a:extLst>
              <a:ext uri="{FF2B5EF4-FFF2-40B4-BE49-F238E27FC236}">
                <a16:creationId xmlns:a16="http://schemas.microsoft.com/office/drawing/2014/main" id="{661314A6-8AFE-8E46-9C5E-86A66E4FAB5B}"/>
              </a:ext>
            </a:extLst>
          </p:cNvPr>
          <p:cNvPicPr>
            <a:picLocks noChangeAspect="1"/>
          </p:cNvPicPr>
          <p:nvPr/>
        </p:nvPicPr>
        <p:blipFill>
          <a:blip r:embed="rId4"/>
          <a:stretch>
            <a:fillRect/>
          </a:stretch>
        </p:blipFill>
        <p:spPr>
          <a:xfrm>
            <a:off x="9130137" y="2133560"/>
            <a:ext cx="2386052" cy="335538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118125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10"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Google Shape;242;p35">
            <a:extLst>
              <a:ext uri="{FF2B5EF4-FFF2-40B4-BE49-F238E27FC236}">
                <a16:creationId xmlns:a16="http://schemas.microsoft.com/office/drawing/2014/main" id="{21FB7595-A3D9-AC4A-8E6B-63BF96725748}"/>
              </a:ext>
            </a:extLst>
          </p:cNvPr>
          <p:cNvSpPr txBox="1">
            <a:spLocks noGrp="1"/>
          </p:cNvSpPr>
          <p:nvPr/>
        </p:nvSpPr>
        <p:spPr>
          <a:xfrm>
            <a:off x="1226673" y="370419"/>
            <a:ext cx="7704000" cy="478200"/>
          </a:xfrm>
          <a:prstGeom prst="rect">
            <a:avLst/>
          </a:prstGeom>
          <a:noFill/>
          <a:ln>
            <a:noFill/>
          </a:ln>
        </p:spPr>
        <p:txBody>
          <a:bodyPr spcFirstLastPara="1" wrap="square" lIns="91425" tIns="0"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3000"/>
              <a:buFont typeface="Raleway"/>
              <a:buNone/>
              <a:defRPr sz="3000" b="1" i="0" u="none" strike="noStrike" cap="none">
                <a:solidFill>
                  <a:schemeClr val="accent1"/>
                </a:solidFill>
                <a:latin typeface="Raleway"/>
                <a:ea typeface="Raleway"/>
                <a:cs typeface="Raleway"/>
                <a:sym typeface="Raleway"/>
              </a:defRPr>
            </a:lvl1pPr>
            <a:lvl2pPr marR="0" lvl="1" algn="l" rtl="0">
              <a:lnSpc>
                <a:spcPct val="100000"/>
              </a:lnSpc>
              <a:spcBef>
                <a:spcPts val="0"/>
              </a:spcBef>
              <a:spcAft>
                <a:spcPts val="0"/>
              </a:spcAft>
              <a:buClr>
                <a:schemeClr val="dk1"/>
              </a:buClr>
              <a:buSzPts val="3500"/>
              <a:buFont typeface="Raleway"/>
              <a:buNone/>
              <a:defRPr sz="35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500"/>
              <a:buFont typeface="Raleway"/>
              <a:buNone/>
              <a:defRPr sz="35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500"/>
              <a:buFont typeface="Raleway"/>
              <a:buNone/>
              <a:defRPr sz="35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500"/>
              <a:buFont typeface="Raleway"/>
              <a:buNone/>
              <a:defRPr sz="35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500"/>
              <a:buFont typeface="Raleway"/>
              <a:buNone/>
              <a:defRPr sz="35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500"/>
              <a:buFont typeface="Raleway"/>
              <a:buNone/>
              <a:defRPr sz="35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500"/>
              <a:buFont typeface="Raleway"/>
              <a:buNone/>
              <a:defRPr sz="35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500"/>
              <a:buFont typeface="Raleway"/>
              <a:buNone/>
              <a:defRPr sz="3500" b="1" i="0" u="none" strike="noStrike" cap="none">
                <a:solidFill>
                  <a:schemeClr val="dk1"/>
                </a:solidFill>
                <a:latin typeface="Raleway"/>
                <a:ea typeface="Raleway"/>
                <a:cs typeface="Raleway"/>
                <a:sym typeface="Raleway"/>
              </a:defRPr>
            </a:lvl9pPr>
          </a:lstStyle>
          <a:p>
            <a:pPr marL="0" lvl="0" indent="0" algn="l" rtl="0">
              <a:spcBef>
                <a:spcPts val="0"/>
              </a:spcBef>
              <a:spcAft>
                <a:spcPts val="0"/>
              </a:spcAft>
              <a:buNone/>
            </a:pPr>
            <a:r>
              <a:rPr lang="en" sz="4800" dirty="0">
                <a:solidFill>
                  <a:schemeClr val="accent6">
                    <a:lumMod val="50000"/>
                  </a:schemeClr>
                </a:solidFill>
                <a:latin typeface="Times New Roman" panose="02020603050405020304" pitchFamily="18" charset="0"/>
                <a:cs typeface="Times New Roman" panose="02020603050405020304" pitchFamily="18" charset="0"/>
              </a:rPr>
              <a:t>Table of Contents</a:t>
            </a:r>
            <a:endParaRPr sz="4800"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18" name="Google Shape;243;p35">
            <a:extLst>
              <a:ext uri="{FF2B5EF4-FFF2-40B4-BE49-F238E27FC236}">
                <a16:creationId xmlns:a16="http://schemas.microsoft.com/office/drawing/2014/main" id="{DB35E356-0614-BA45-A8E9-01ED2F16A43C}"/>
              </a:ext>
            </a:extLst>
          </p:cNvPr>
          <p:cNvSpPr txBox="1">
            <a:spLocks noGrp="1"/>
          </p:cNvSpPr>
          <p:nvPr/>
        </p:nvSpPr>
        <p:spPr>
          <a:xfrm>
            <a:off x="1311287" y="1874871"/>
            <a:ext cx="734700" cy="619500"/>
          </a:xfrm>
          <a:prstGeom prst="rect">
            <a:avLst/>
          </a:prstGeom>
          <a:solidFill>
            <a:schemeClr val="accent6">
              <a:lumMod val="40000"/>
              <a:lumOff val="60000"/>
            </a:schemeClr>
          </a:solidFill>
          <a:ln>
            <a:noFill/>
          </a:ln>
        </p:spPr>
        <p:txBody>
          <a:bodyPr spcFirstLastPara="1" wrap="square" lIns="91425" tIns="0"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Raleway"/>
              <a:buNone/>
              <a:defRPr sz="3000" b="1" i="0" u="none" strike="noStrike" cap="none">
                <a:solidFill>
                  <a:schemeClr val="accent1"/>
                </a:solidFill>
                <a:latin typeface="Raleway"/>
                <a:ea typeface="Raleway"/>
                <a:cs typeface="Raleway"/>
                <a:sym typeface="Raleway"/>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marL="0" lvl="0" indent="0" algn="ctr" rtl="0">
              <a:spcBef>
                <a:spcPts val="0"/>
              </a:spcBef>
              <a:spcAft>
                <a:spcPts val="0"/>
              </a:spcAft>
              <a:buNone/>
            </a:pPr>
            <a:r>
              <a:rPr lang="en" sz="4000" dirty="0">
                <a:solidFill>
                  <a:schemeClr val="accent6">
                    <a:lumMod val="50000"/>
                  </a:schemeClr>
                </a:solidFill>
                <a:latin typeface="Times New Roman" panose="02020603050405020304" pitchFamily="18" charset="0"/>
                <a:cs typeface="Times New Roman" panose="02020603050405020304" pitchFamily="18" charset="0"/>
              </a:rPr>
              <a:t>01</a:t>
            </a:r>
            <a:endParaRPr sz="4000"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19" name="Google Shape;244;p35">
            <a:extLst>
              <a:ext uri="{FF2B5EF4-FFF2-40B4-BE49-F238E27FC236}">
                <a16:creationId xmlns:a16="http://schemas.microsoft.com/office/drawing/2014/main" id="{7FA0D4EC-AF39-4445-8D9B-FA90409EA4B5}"/>
              </a:ext>
            </a:extLst>
          </p:cNvPr>
          <p:cNvSpPr txBox="1">
            <a:spLocks noGrp="1"/>
          </p:cNvSpPr>
          <p:nvPr/>
        </p:nvSpPr>
        <p:spPr>
          <a:xfrm>
            <a:off x="1306405" y="4816468"/>
            <a:ext cx="734700" cy="619500"/>
          </a:xfrm>
          <a:prstGeom prst="rect">
            <a:avLst/>
          </a:prstGeom>
          <a:solidFill>
            <a:schemeClr val="accent6">
              <a:lumMod val="40000"/>
              <a:lumOff val="60000"/>
            </a:schemeClr>
          </a:solidFill>
          <a:ln>
            <a:noFill/>
          </a:ln>
        </p:spPr>
        <p:txBody>
          <a:bodyPr spcFirstLastPara="1" wrap="square" lIns="91425" tIns="0"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Raleway"/>
              <a:buNone/>
              <a:defRPr sz="3000" b="1" i="0" u="none" strike="noStrike" cap="none">
                <a:solidFill>
                  <a:schemeClr val="accent1"/>
                </a:solidFill>
                <a:latin typeface="Raleway"/>
                <a:ea typeface="Raleway"/>
                <a:cs typeface="Raleway"/>
                <a:sym typeface="Raleway"/>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marL="0" lvl="0" indent="0" algn="ctr" rtl="0">
              <a:spcBef>
                <a:spcPts val="0"/>
              </a:spcBef>
              <a:spcAft>
                <a:spcPts val="0"/>
              </a:spcAft>
              <a:buNone/>
            </a:pPr>
            <a:r>
              <a:rPr lang="en" sz="4000" dirty="0">
                <a:solidFill>
                  <a:schemeClr val="accent6">
                    <a:lumMod val="50000"/>
                  </a:schemeClr>
                </a:solidFill>
                <a:latin typeface="Times New Roman" panose="02020603050405020304" pitchFamily="18" charset="0"/>
                <a:cs typeface="Times New Roman" panose="02020603050405020304" pitchFamily="18" charset="0"/>
              </a:rPr>
              <a:t>04</a:t>
            </a:r>
            <a:endParaRPr sz="4000"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20" name="Google Shape;245;p35">
            <a:extLst>
              <a:ext uri="{FF2B5EF4-FFF2-40B4-BE49-F238E27FC236}">
                <a16:creationId xmlns:a16="http://schemas.microsoft.com/office/drawing/2014/main" id="{7B447F99-73BD-8E44-9725-69189BDB3E5A}"/>
              </a:ext>
            </a:extLst>
          </p:cNvPr>
          <p:cNvSpPr txBox="1">
            <a:spLocks noGrp="1"/>
          </p:cNvSpPr>
          <p:nvPr/>
        </p:nvSpPr>
        <p:spPr>
          <a:xfrm>
            <a:off x="1311287" y="2903409"/>
            <a:ext cx="734700" cy="619500"/>
          </a:xfrm>
          <a:prstGeom prst="rect">
            <a:avLst/>
          </a:prstGeom>
          <a:solidFill>
            <a:schemeClr val="accent6">
              <a:lumMod val="40000"/>
              <a:lumOff val="60000"/>
            </a:schemeClr>
          </a:solidFill>
          <a:ln>
            <a:noFill/>
          </a:ln>
        </p:spPr>
        <p:txBody>
          <a:bodyPr spcFirstLastPara="1" wrap="square" lIns="91425" tIns="0"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Raleway"/>
              <a:buNone/>
              <a:defRPr sz="3000" b="1" i="0" u="none" strike="noStrike" cap="none">
                <a:solidFill>
                  <a:schemeClr val="accent1"/>
                </a:solidFill>
                <a:latin typeface="Raleway"/>
                <a:ea typeface="Raleway"/>
                <a:cs typeface="Raleway"/>
                <a:sym typeface="Raleway"/>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algn="ctr"/>
            <a:r>
              <a:rPr lang="en" sz="4000" dirty="0">
                <a:solidFill>
                  <a:schemeClr val="accent6">
                    <a:lumMod val="50000"/>
                  </a:schemeClr>
                </a:solidFill>
                <a:latin typeface="Times New Roman" panose="02020603050405020304" pitchFamily="18" charset="0"/>
                <a:cs typeface="Times New Roman" panose="02020603050405020304" pitchFamily="18" charset="0"/>
              </a:rPr>
              <a:t>02</a:t>
            </a:r>
            <a:endParaRPr sz="4000"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21" name="Google Shape;246;p35">
            <a:extLst>
              <a:ext uri="{FF2B5EF4-FFF2-40B4-BE49-F238E27FC236}">
                <a16:creationId xmlns:a16="http://schemas.microsoft.com/office/drawing/2014/main" id="{785B5A08-518F-9B43-9B2C-CF9876A39D96}"/>
              </a:ext>
            </a:extLst>
          </p:cNvPr>
          <p:cNvSpPr txBox="1">
            <a:spLocks noGrp="1"/>
          </p:cNvSpPr>
          <p:nvPr/>
        </p:nvSpPr>
        <p:spPr>
          <a:xfrm>
            <a:off x="5641948" y="1942221"/>
            <a:ext cx="734700" cy="619500"/>
          </a:xfrm>
          <a:prstGeom prst="rect">
            <a:avLst/>
          </a:prstGeom>
          <a:solidFill>
            <a:schemeClr val="accent6">
              <a:lumMod val="40000"/>
              <a:lumOff val="60000"/>
            </a:schemeClr>
          </a:solidFill>
          <a:ln>
            <a:noFill/>
          </a:ln>
        </p:spPr>
        <p:txBody>
          <a:bodyPr spcFirstLastPara="1" wrap="square" lIns="91425" tIns="0"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Raleway"/>
              <a:buNone/>
              <a:defRPr sz="3000" b="1" i="0" u="none" strike="noStrike" cap="none">
                <a:solidFill>
                  <a:schemeClr val="accent1"/>
                </a:solidFill>
                <a:latin typeface="Raleway"/>
                <a:ea typeface="Raleway"/>
                <a:cs typeface="Raleway"/>
                <a:sym typeface="Raleway"/>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marL="0" lvl="0" indent="0" algn="ctr" rtl="0">
              <a:spcBef>
                <a:spcPts val="0"/>
              </a:spcBef>
              <a:spcAft>
                <a:spcPts val="0"/>
              </a:spcAft>
              <a:buNone/>
            </a:pPr>
            <a:r>
              <a:rPr lang="en" sz="4000" dirty="0">
                <a:solidFill>
                  <a:schemeClr val="accent6">
                    <a:lumMod val="50000"/>
                  </a:schemeClr>
                </a:solidFill>
                <a:latin typeface="Times New Roman" panose="02020603050405020304" pitchFamily="18" charset="0"/>
                <a:cs typeface="Times New Roman" panose="02020603050405020304" pitchFamily="18" charset="0"/>
              </a:rPr>
              <a:t>05</a:t>
            </a:r>
            <a:endParaRPr sz="4000"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22" name="Google Shape;247;p35">
            <a:extLst>
              <a:ext uri="{FF2B5EF4-FFF2-40B4-BE49-F238E27FC236}">
                <a16:creationId xmlns:a16="http://schemas.microsoft.com/office/drawing/2014/main" id="{1DB6DF7D-A9C5-A640-8D81-6C93CC8BF9CD}"/>
              </a:ext>
            </a:extLst>
          </p:cNvPr>
          <p:cNvSpPr txBox="1">
            <a:spLocks noGrp="1"/>
          </p:cNvSpPr>
          <p:nvPr/>
        </p:nvSpPr>
        <p:spPr>
          <a:xfrm>
            <a:off x="1311287" y="3864571"/>
            <a:ext cx="734700" cy="619500"/>
          </a:xfrm>
          <a:prstGeom prst="rect">
            <a:avLst/>
          </a:prstGeom>
          <a:solidFill>
            <a:schemeClr val="accent6">
              <a:lumMod val="40000"/>
              <a:lumOff val="60000"/>
            </a:schemeClr>
          </a:solidFill>
          <a:ln>
            <a:noFill/>
          </a:ln>
        </p:spPr>
        <p:txBody>
          <a:bodyPr spcFirstLastPara="1" wrap="square" lIns="91425" tIns="0"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Raleway"/>
              <a:buNone/>
              <a:defRPr sz="3000" b="1" i="0" u="none" strike="noStrike" cap="none">
                <a:solidFill>
                  <a:schemeClr val="accent1"/>
                </a:solidFill>
                <a:latin typeface="Raleway"/>
                <a:ea typeface="Raleway"/>
                <a:cs typeface="Raleway"/>
                <a:sym typeface="Raleway"/>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lvl="0" indent="0" algn="ctr"/>
            <a:r>
              <a:rPr lang="en" sz="4000" dirty="0">
                <a:solidFill>
                  <a:schemeClr val="accent6">
                    <a:lumMod val="50000"/>
                  </a:schemeClr>
                </a:solidFill>
                <a:latin typeface="Times New Roman" panose="02020603050405020304" pitchFamily="18" charset="0"/>
                <a:cs typeface="Times New Roman" panose="02020603050405020304" pitchFamily="18" charset="0"/>
              </a:rPr>
              <a:t>03</a:t>
            </a:r>
            <a:endParaRPr sz="4000"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23" name="Google Shape;248;p35">
            <a:extLst>
              <a:ext uri="{FF2B5EF4-FFF2-40B4-BE49-F238E27FC236}">
                <a16:creationId xmlns:a16="http://schemas.microsoft.com/office/drawing/2014/main" id="{6D996F5C-E211-1B45-90AF-0580685DF6E8}"/>
              </a:ext>
            </a:extLst>
          </p:cNvPr>
          <p:cNvSpPr txBox="1">
            <a:spLocks noGrp="1"/>
          </p:cNvSpPr>
          <p:nvPr/>
        </p:nvSpPr>
        <p:spPr>
          <a:xfrm>
            <a:off x="5662737" y="2889797"/>
            <a:ext cx="734700" cy="619500"/>
          </a:xfrm>
          <a:prstGeom prst="rect">
            <a:avLst/>
          </a:prstGeom>
          <a:solidFill>
            <a:schemeClr val="accent6">
              <a:lumMod val="40000"/>
              <a:lumOff val="60000"/>
            </a:schemeClr>
          </a:solidFill>
          <a:ln>
            <a:noFill/>
          </a:ln>
        </p:spPr>
        <p:txBody>
          <a:bodyPr spcFirstLastPara="1" wrap="square" lIns="91425" tIns="0"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Raleway"/>
              <a:buNone/>
              <a:defRPr sz="3000" b="1" i="0" u="none" strike="noStrike" cap="none">
                <a:solidFill>
                  <a:schemeClr val="accent1"/>
                </a:solidFill>
                <a:latin typeface="Raleway"/>
                <a:ea typeface="Raleway"/>
                <a:cs typeface="Raleway"/>
                <a:sym typeface="Raleway"/>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marL="0" lvl="0" indent="0" algn="ctr" rtl="0">
              <a:spcBef>
                <a:spcPts val="0"/>
              </a:spcBef>
              <a:spcAft>
                <a:spcPts val="0"/>
              </a:spcAft>
              <a:buNone/>
            </a:pPr>
            <a:r>
              <a:rPr lang="en" sz="4000" dirty="0">
                <a:solidFill>
                  <a:schemeClr val="accent6">
                    <a:lumMod val="50000"/>
                  </a:schemeClr>
                </a:solidFill>
                <a:latin typeface="Times New Roman" panose="02020603050405020304" pitchFamily="18" charset="0"/>
                <a:cs typeface="Times New Roman" panose="02020603050405020304" pitchFamily="18" charset="0"/>
              </a:rPr>
              <a:t>06</a:t>
            </a:r>
            <a:endParaRPr sz="4000"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24" name="Google Shape;249;p35">
            <a:extLst>
              <a:ext uri="{FF2B5EF4-FFF2-40B4-BE49-F238E27FC236}">
                <a16:creationId xmlns:a16="http://schemas.microsoft.com/office/drawing/2014/main" id="{18BE074B-E01C-F34B-9632-FDA19A8964E4}"/>
              </a:ext>
            </a:extLst>
          </p:cNvPr>
          <p:cNvSpPr txBox="1">
            <a:spLocks noGrp="1"/>
          </p:cNvSpPr>
          <p:nvPr/>
        </p:nvSpPr>
        <p:spPr>
          <a:xfrm>
            <a:off x="2284901" y="1942221"/>
            <a:ext cx="2305500" cy="484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Bebas Neue"/>
              <a:buNone/>
              <a:defRPr sz="2000" b="1" i="0" u="none" strike="noStrike" cap="none">
                <a:solidFill>
                  <a:schemeClr val="dk1"/>
                </a:solidFill>
                <a:latin typeface="Raleway"/>
                <a:ea typeface="Raleway"/>
                <a:cs typeface="Raleway"/>
                <a:sym typeface="Raleway"/>
              </a:defRPr>
            </a:lvl1pPr>
            <a:lvl2pPr marL="914400" marR="0" lvl="1"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lvl="0" indent="0" algn="l" rtl="0">
              <a:spcBef>
                <a:spcPts val="0"/>
              </a:spcBef>
              <a:spcAft>
                <a:spcPts val="0"/>
              </a:spcAft>
              <a:buNone/>
            </a:pPr>
            <a:r>
              <a:rPr lang="en" sz="2500" dirty="0">
                <a:latin typeface="Times New Roman" panose="02020603050405020304" pitchFamily="18" charset="0"/>
                <a:cs typeface="Times New Roman" panose="02020603050405020304" pitchFamily="18" charset="0"/>
              </a:rPr>
              <a:t>Background</a:t>
            </a:r>
            <a:endParaRPr sz="2500" dirty="0">
              <a:latin typeface="Times New Roman" panose="02020603050405020304" pitchFamily="18" charset="0"/>
              <a:cs typeface="Times New Roman" panose="02020603050405020304" pitchFamily="18" charset="0"/>
            </a:endParaRPr>
          </a:p>
        </p:txBody>
      </p:sp>
      <p:sp>
        <p:nvSpPr>
          <p:cNvPr id="25" name="Google Shape;250;p35">
            <a:extLst>
              <a:ext uri="{FF2B5EF4-FFF2-40B4-BE49-F238E27FC236}">
                <a16:creationId xmlns:a16="http://schemas.microsoft.com/office/drawing/2014/main" id="{ACC640C1-98C2-2442-88C7-EA971E476EF4}"/>
              </a:ext>
            </a:extLst>
          </p:cNvPr>
          <p:cNvSpPr txBox="1">
            <a:spLocks noGrp="1"/>
          </p:cNvSpPr>
          <p:nvPr/>
        </p:nvSpPr>
        <p:spPr>
          <a:xfrm>
            <a:off x="2228226" y="3938392"/>
            <a:ext cx="2305500" cy="484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Bebas Neue"/>
              <a:buNone/>
              <a:defRPr sz="2000" b="1" i="0" u="none" strike="noStrike" cap="none">
                <a:solidFill>
                  <a:schemeClr val="dk1"/>
                </a:solidFill>
                <a:latin typeface="Raleway"/>
                <a:ea typeface="Raleway"/>
                <a:cs typeface="Raleway"/>
                <a:sym typeface="Raleway"/>
              </a:defRPr>
            </a:lvl1pPr>
            <a:lvl2pPr marL="914400" marR="0" lvl="1"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lvl="0" indent="0" algn="l" rtl="0">
              <a:spcBef>
                <a:spcPts val="0"/>
              </a:spcBef>
              <a:spcAft>
                <a:spcPts val="0"/>
              </a:spcAft>
              <a:buNone/>
            </a:pPr>
            <a:r>
              <a:rPr lang="en-US" sz="2500" dirty="0">
                <a:latin typeface="Times New Roman" panose="02020603050405020304" pitchFamily="18" charset="0"/>
                <a:cs typeface="Times New Roman" panose="02020603050405020304" pitchFamily="18" charset="0"/>
              </a:rPr>
              <a:t>Plant Preview</a:t>
            </a:r>
            <a:endParaRPr sz="2500" dirty="0">
              <a:latin typeface="Times New Roman" panose="02020603050405020304" pitchFamily="18" charset="0"/>
              <a:cs typeface="Times New Roman" panose="02020603050405020304" pitchFamily="18" charset="0"/>
            </a:endParaRPr>
          </a:p>
        </p:txBody>
      </p:sp>
      <p:sp>
        <p:nvSpPr>
          <p:cNvPr id="26" name="Google Shape;251;p35">
            <a:extLst>
              <a:ext uri="{FF2B5EF4-FFF2-40B4-BE49-F238E27FC236}">
                <a16:creationId xmlns:a16="http://schemas.microsoft.com/office/drawing/2014/main" id="{08530A1C-5F8E-154C-A5DA-D2754FD4DEE2}"/>
              </a:ext>
            </a:extLst>
          </p:cNvPr>
          <p:cNvSpPr txBox="1">
            <a:spLocks noGrp="1"/>
          </p:cNvSpPr>
          <p:nvPr/>
        </p:nvSpPr>
        <p:spPr>
          <a:xfrm>
            <a:off x="2190283" y="2970759"/>
            <a:ext cx="3451665" cy="484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Bebas Neue"/>
              <a:buNone/>
              <a:defRPr sz="2000" b="1" i="0" u="none" strike="noStrike" cap="none">
                <a:solidFill>
                  <a:schemeClr val="dk1"/>
                </a:solidFill>
                <a:latin typeface="Raleway"/>
                <a:ea typeface="Raleway"/>
                <a:cs typeface="Raleway"/>
                <a:sym typeface="Raleway"/>
              </a:defRPr>
            </a:lvl1pPr>
            <a:lvl2pPr marL="914400" marR="0" lvl="1"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 sz="2500" dirty="0">
                <a:latin typeface="Times New Roman" panose="02020603050405020304" pitchFamily="18" charset="0"/>
                <a:cs typeface="Times New Roman" panose="02020603050405020304" pitchFamily="18" charset="0"/>
              </a:rPr>
              <a:t>Aims and Objectives</a:t>
            </a:r>
            <a:endParaRPr sz="2500" dirty="0">
              <a:latin typeface="Times New Roman" panose="02020603050405020304" pitchFamily="18" charset="0"/>
              <a:cs typeface="Times New Roman" panose="02020603050405020304" pitchFamily="18" charset="0"/>
            </a:endParaRPr>
          </a:p>
        </p:txBody>
      </p:sp>
      <p:sp>
        <p:nvSpPr>
          <p:cNvPr id="28" name="Google Shape;253;p35">
            <a:extLst>
              <a:ext uri="{FF2B5EF4-FFF2-40B4-BE49-F238E27FC236}">
                <a16:creationId xmlns:a16="http://schemas.microsoft.com/office/drawing/2014/main" id="{6B60D303-90A3-1949-B9AC-84A76B886710}"/>
              </a:ext>
            </a:extLst>
          </p:cNvPr>
          <p:cNvSpPr txBox="1">
            <a:spLocks noGrp="1"/>
          </p:cNvSpPr>
          <p:nvPr/>
        </p:nvSpPr>
        <p:spPr>
          <a:xfrm>
            <a:off x="6572469" y="2011403"/>
            <a:ext cx="3589448" cy="484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Bebas Neue"/>
              <a:buNone/>
              <a:defRPr sz="2000" b="1" i="0" u="none" strike="noStrike" cap="none">
                <a:solidFill>
                  <a:schemeClr val="dk1"/>
                </a:solidFill>
                <a:latin typeface="Raleway"/>
                <a:ea typeface="Raleway"/>
                <a:cs typeface="Raleway"/>
                <a:sym typeface="Raleway"/>
              </a:defRPr>
            </a:lvl1pPr>
            <a:lvl2pPr marL="914400" marR="0" lvl="1"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lvl="0" indent="0" algn="l" rtl="0">
              <a:spcBef>
                <a:spcPts val="0"/>
              </a:spcBef>
              <a:spcAft>
                <a:spcPts val="0"/>
              </a:spcAft>
              <a:buNone/>
            </a:pPr>
            <a:r>
              <a:rPr lang="en-US" sz="2500" dirty="0">
                <a:latin typeface="Times New Roman" panose="02020603050405020304" pitchFamily="18" charset="0"/>
                <a:cs typeface="Times New Roman" panose="02020603050405020304" pitchFamily="18" charset="0"/>
              </a:rPr>
              <a:t>Materials and Methods</a:t>
            </a:r>
            <a:endParaRPr sz="2500" dirty="0">
              <a:latin typeface="Times New Roman" panose="02020603050405020304" pitchFamily="18" charset="0"/>
              <a:cs typeface="Times New Roman" panose="02020603050405020304" pitchFamily="18" charset="0"/>
            </a:endParaRPr>
          </a:p>
        </p:txBody>
      </p:sp>
      <p:sp>
        <p:nvSpPr>
          <p:cNvPr id="30" name="Google Shape;250;p35">
            <a:extLst>
              <a:ext uri="{FF2B5EF4-FFF2-40B4-BE49-F238E27FC236}">
                <a16:creationId xmlns:a16="http://schemas.microsoft.com/office/drawing/2014/main" id="{47B1A659-864B-814C-B50B-8F29C3837B30}"/>
              </a:ext>
            </a:extLst>
          </p:cNvPr>
          <p:cNvSpPr txBox="1">
            <a:spLocks noGrp="1"/>
          </p:cNvSpPr>
          <p:nvPr/>
        </p:nvSpPr>
        <p:spPr>
          <a:xfrm>
            <a:off x="2224209" y="4883818"/>
            <a:ext cx="2951639" cy="484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Bebas Neue"/>
              <a:buNone/>
              <a:defRPr sz="2000" b="1" i="0" u="none" strike="noStrike" cap="none">
                <a:solidFill>
                  <a:schemeClr val="dk1"/>
                </a:solidFill>
                <a:latin typeface="Raleway"/>
                <a:ea typeface="Raleway"/>
                <a:cs typeface="Raleway"/>
                <a:sym typeface="Raleway"/>
              </a:defRPr>
            </a:lvl1pPr>
            <a:lvl2pPr marL="914400" marR="0" lvl="1"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lvl="0" indent="0" algn="l" rtl="0">
              <a:spcBef>
                <a:spcPts val="0"/>
              </a:spcBef>
              <a:spcAft>
                <a:spcPts val="0"/>
              </a:spcAft>
              <a:buNone/>
            </a:pPr>
            <a:r>
              <a:rPr lang="en-US" sz="2500" dirty="0">
                <a:latin typeface="Times New Roman" panose="02020603050405020304" pitchFamily="18" charset="0"/>
                <a:cs typeface="Times New Roman" panose="02020603050405020304" pitchFamily="18" charset="0"/>
              </a:rPr>
              <a:t>Extract Preparation</a:t>
            </a:r>
            <a:endParaRPr sz="2500" dirty="0">
              <a:latin typeface="Times New Roman" panose="02020603050405020304" pitchFamily="18" charset="0"/>
              <a:cs typeface="Times New Roman" panose="02020603050405020304" pitchFamily="18" charset="0"/>
            </a:endParaRPr>
          </a:p>
        </p:txBody>
      </p:sp>
      <p:sp>
        <p:nvSpPr>
          <p:cNvPr id="31" name="Google Shape;253;p35">
            <a:extLst>
              <a:ext uri="{FF2B5EF4-FFF2-40B4-BE49-F238E27FC236}">
                <a16:creationId xmlns:a16="http://schemas.microsoft.com/office/drawing/2014/main" id="{468488EC-D10C-8348-A545-56095A4508F1}"/>
              </a:ext>
            </a:extLst>
          </p:cNvPr>
          <p:cNvSpPr txBox="1">
            <a:spLocks noGrp="1"/>
          </p:cNvSpPr>
          <p:nvPr/>
        </p:nvSpPr>
        <p:spPr>
          <a:xfrm>
            <a:off x="6572469" y="2917907"/>
            <a:ext cx="3589448" cy="484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Bebas Neue"/>
              <a:buNone/>
              <a:defRPr sz="2000" b="1" i="0" u="none" strike="noStrike" cap="none">
                <a:solidFill>
                  <a:schemeClr val="dk1"/>
                </a:solidFill>
                <a:latin typeface="Raleway"/>
                <a:ea typeface="Raleway"/>
                <a:cs typeface="Raleway"/>
                <a:sym typeface="Raleway"/>
              </a:defRPr>
            </a:lvl1pPr>
            <a:lvl2pPr marL="914400" marR="0" lvl="1"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lvl="0" indent="0" algn="l" rtl="0">
              <a:spcBef>
                <a:spcPts val="0"/>
              </a:spcBef>
              <a:spcAft>
                <a:spcPts val="0"/>
              </a:spcAft>
              <a:buNone/>
            </a:pPr>
            <a:r>
              <a:rPr lang="en-US" sz="2500" dirty="0">
                <a:latin typeface="Times New Roman" panose="02020603050405020304" pitchFamily="18" charset="0"/>
                <a:cs typeface="Times New Roman" panose="02020603050405020304" pitchFamily="18" charset="0"/>
              </a:rPr>
              <a:t>Result and Discussion</a:t>
            </a:r>
            <a:endParaRPr sz="2500" dirty="0">
              <a:latin typeface="Times New Roman" panose="02020603050405020304" pitchFamily="18" charset="0"/>
              <a:cs typeface="Times New Roman" panose="02020603050405020304" pitchFamily="18" charset="0"/>
            </a:endParaRPr>
          </a:p>
        </p:txBody>
      </p:sp>
      <p:sp>
        <p:nvSpPr>
          <p:cNvPr id="32" name="Google Shape;248;p35">
            <a:extLst>
              <a:ext uri="{FF2B5EF4-FFF2-40B4-BE49-F238E27FC236}">
                <a16:creationId xmlns:a16="http://schemas.microsoft.com/office/drawing/2014/main" id="{A5FF3E3B-560B-C446-9E27-A815F146C608}"/>
              </a:ext>
            </a:extLst>
          </p:cNvPr>
          <p:cNvSpPr txBox="1">
            <a:spLocks noGrp="1"/>
          </p:cNvSpPr>
          <p:nvPr/>
        </p:nvSpPr>
        <p:spPr>
          <a:xfrm>
            <a:off x="5641948" y="3859938"/>
            <a:ext cx="734700" cy="619500"/>
          </a:xfrm>
          <a:prstGeom prst="rect">
            <a:avLst/>
          </a:prstGeom>
          <a:solidFill>
            <a:schemeClr val="accent6">
              <a:lumMod val="40000"/>
              <a:lumOff val="60000"/>
            </a:schemeClr>
          </a:solidFill>
          <a:ln>
            <a:noFill/>
          </a:ln>
        </p:spPr>
        <p:txBody>
          <a:bodyPr spcFirstLastPara="1" wrap="square" lIns="91425" tIns="0"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Raleway"/>
              <a:buNone/>
              <a:defRPr sz="3000" b="1" i="0" u="none" strike="noStrike" cap="none">
                <a:solidFill>
                  <a:schemeClr val="accent1"/>
                </a:solidFill>
                <a:latin typeface="Raleway"/>
                <a:ea typeface="Raleway"/>
                <a:cs typeface="Raleway"/>
                <a:sym typeface="Raleway"/>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marL="0" lvl="0" indent="0" algn="ctr" rtl="0">
              <a:spcBef>
                <a:spcPts val="0"/>
              </a:spcBef>
              <a:spcAft>
                <a:spcPts val="0"/>
              </a:spcAft>
              <a:buNone/>
            </a:pPr>
            <a:r>
              <a:rPr lang="en" sz="4000" dirty="0">
                <a:solidFill>
                  <a:schemeClr val="accent6">
                    <a:lumMod val="50000"/>
                  </a:schemeClr>
                </a:solidFill>
                <a:latin typeface="Times New Roman" panose="02020603050405020304" pitchFamily="18" charset="0"/>
                <a:cs typeface="Times New Roman" panose="02020603050405020304" pitchFamily="18" charset="0"/>
              </a:rPr>
              <a:t>07</a:t>
            </a:r>
            <a:endParaRPr sz="4000"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33" name="Google Shape;253;p35">
            <a:extLst>
              <a:ext uri="{FF2B5EF4-FFF2-40B4-BE49-F238E27FC236}">
                <a16:creationId xmlns:a16="http://schemas.microsoft.com/office/drawing/2014/main" id="{AD7F8828-AB21-6C4A-A168-B749B07F5AE1}"/>
              </a:ext>
            </a:extLst>
          </p:cNvPr>
          <p:cNvSpPr txBox="1">
            <a:spLocks noGrp="1"/>
          </p:cNvSpPr>
          <p:nvPr/>
        </p:nvSpPr>
        <p:spPr>
          <a:xfrm>
            <a:off x="6572469" y="3898592"/>
            <a:ext cx="3589448" cy="484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Bebas Neue"/>
              <a:buNone/>
              <a:defRPr sz="2000" b="1" i="0" u="none" strike="noStrike" cap="none">
                <a:solidFill>
                  <a:schemeClr val="dk1"/>
                </a:solidFill>
                <a:latin typeface="Raleway"/>
                <a:ea typeface="Raleway"/>
                <a:cs typeface="Raleway"/>
                <a:sym typeface="Raleway"/>
              </a:defRPr>
            </a:lvl1pPr>
            <a:lvl2pPr marL="914400" marR="0" lvl="1"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lvl="0" indent="0" algn="l" rtl="0">
              <a:spcBef>
                <a:spcPts val="0"/>
              </a:spcBef>
              <a:spcAft>
                <a:spcPts val="0"/>
              </a:spcAft>
              <a:buNone/>
            </a:pPr>
            <a:r>
              <a:rPr lang="en-US" sz="2500" dirty="0">
                <a:latin typeface="Times New Roman" panose="02020603050405020304" pitchFamily="18" charset="0"/>
                <a:cs typeface="Times New Roman" panose="02020603050405020304" pitchFamily="18" charset="0"/>
              </a:rPr>
              <a:t>Conclusion</a:t>
            </a:r>
            <a:endParaRPr sz="2500" dirty="0">
              <a:latin typeface="Times New Roman" panose="02020603050405020304" pitchFamily="18" charset="0"/>
              <a:cs typeface="Times New Roman" panose="02020603050405020304" pitchFamily="18" charset="0"/>
            </a:endParaRPr>
          </a:p>
        </p:txBody>
      </p:sp>
      <p:sp>
        <p:nvSpPr>
          <p:cNvPr id="34" name="Google Shape;248;p35">
            <a:extLst>
              <a:ext uri="{FF2B5EF4-FFF2-40B4-BE49-F238E27FC236}">
                <a16:creationId xmlns:a16="http://schemas.microsoft.com/office/drawing/2014/main" id="{61A61E27-7718-174C-A58B-77A833F0F17C}"/>
              </a:ext>
            </a:extLst>
          </p:cNvPr>
          <p:cNvSpPr txBox="1">
            <a:spLocks noGrp="1"/>
          </p:cNvSpPr>
          <p:nvPr/>
        </p:nvSpPr>
        <p:spPr>
          <a:xfrm>
            <a:off x="5639072" y="4823222"/>
            <a:ext cx="734700" cy="619500"/>
          </a:xfrm>
          <a:prstGeom prst="rect">
            <a:avLst/>
          </a:prstGeom>
          <a:solidFill>
            <a:schemeClr val="accent6">
              <a:lumMod val="40000"/>
              <a:lumOff val="60000"/>
            </a:schemeClr>
          </a:solidFill>
          <a:ln>
            <a:noFill/>
          </a:ln>
        </p:spPr>
        <p:txBody>
          <a:bodyPr spcFirstLastPara="1" wrap="square" lIns="91425" tIns="0"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Raleway"/>
              <a:buNone/>
              <a:defRPr sz="3000" b="1" i="0" u="none" strike="noStrike" cap="none">
                <a:solidFill>
                  <a:schemeClr val="accent1"/>
                </a:solidFill>
                <a:latin typeface="Raleway"/>
                <a:ea typeface="Raleway"/>
                <a:cs typeface="Raleway"/>
                <a:sym typeface="Raleway"/>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marL="0" lvl="0" indent="0" algn="ctr" rtl="0">
              <a:spcBef>
                <a:spcPts val="0"/>
              </a:spcBef>
              <a:spcAft>
                <a:spcPts val="0"/>
              </a:spcAft>
              <a:buNone/>
            </a:pPr>
            <a:r>
              <a:rPr lang="en" sz="4000" dirty="0">
                <a:solidFill>
                  <a:schemeClr val="accent6">
                    <a:lumMod val="50000"/>
                  </a:schemeClr>
                </a:solidFill>
                <a:latin typeface="Times New Roman" panose="02020603050405020304" pitchFamily="18" charset="0"/>
                <a:cs typeface="Times New Roman" panose="02020603050405020304" pitchFamily="18" charset="0"/>
              </a:rPr>
              <a:t>08</a:t>
            </a:r>
            <a:endParaRPr sz="4000"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35" name="Google Shape;253;p35">
            <a:extLst>
              <a:ext uri="{FF2B5EF4-FFF2-40B4-BE49-F238E27FC236}">
                <a16:creationId xmlns:a16="http://schemas.microsoft.com/office/drawing/2014/main" id="{50E19466-E641-6D4B-A80E-740EB6ECBAD0}"/>
              </a:ext>
            </a:extLst>
          </p:cNvPr>
          <p:cNvSpPr txBox="1">
            <a:spLocks noGrp="1"/>
          </p:cNvSpPr>
          <p:nvPr/>
        </p:nvSpPr>
        <p:spPr>
          <a:xfrm>
            <a:off x="6569593" y="4861876"/>
            <a:ext cx="3589448" cy="484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Bebas Neue"/>
              <a:buNone/>
              <a:defRPr sz="2000" b="1" i="0" u="none" strike="noStrike" cap="none">
                <a:solidFill>
                  <a:schemeClr val="dk1"/>
                </a:solidFill>
                <a:latin typeface="Raleway"/>
                <a:ea typeface="Raleway"/>
                <a:cs typeface="Raleway"/>
                <a:sym typeface="Raleway"/>
              </a:defRPr>
            </a:lvl1pPr>
            <a:lvl2pPr marL="914400" marR="0" lvl="1"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048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lvl="0" indent="0" algn="l" rtl="0">
              <a:spcBef>
                <a:spcPts val="0"/>
              </a:spcBef>
              <a:spcAft>
                <a:spcPts val="0"/>
              </a:spcAft>
              <a:buNone/>
            </a:pPr>
            <a:r>
              <a:rPr lang="en-US" sz="2500" dirty="0">
                <a:latin typeface="Times New Roman" panose="02020603050405020304" pitchFamily="18" charset="0"/>
                <a:cs typeface="Times New Roman" panose="02020603050405020304" pitchFamily="18" charset="0"/>
              </a:rPr>
              <a:t>References</a:t>
            </a:r>
            <a:endParaRPr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1625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dissolve">
                                      <p:cBhvr>
                                        <p:cTn id="13" dur="500"/>
                                        <p:tgtEl>
                                          <p:spTgt spid="18"/>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dissolve">
                                      <p:cBhvr>
                                        <p:cTn id="16" dur="500"/>
                                        <p:tgtEl>
                                          <p:spTgt spid="19"/>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dissolve">
                                      <p:cBhvr>
                                        <p:cTn id="19" dur="500"/>
                                        <p:tgtEl>
                                          <p:spTgt spid="20"/>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dissolve">
                                      <p:cBhvr>
                                        <p:cTn id="22" dur="500"/>
                                        <p:tgtEl>
                                          <p:spTgt spid="21"/>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dissolve">
                                      <p:cBhvr>
                                        <p:cTn id="25" dur="500"/>
                                        <p:tgtEl>
                                          <p:spTgt spid="22"/>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dissolve">
                                      <p:cBhvr>
                                        <p:cTn id="28" dur="500"/>
                                        <p:tgtEl>
                                          <p:spTgt spid="23"/>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dissolve">
                                      <p:cBhvr>
                                        <p:cTn id="31" dur="500"/>
                                        <p:tgtEl>
                                          <p:spTgt spid="24"/>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dissolve">
                                      <p:cBhvr>
                                        <p:cTn id="34" dur="500"/>
                                        <p:tgtEl>
                                          <p:spTgt spid="25"/>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dissolve">
                                      <p:cBhvr>
                                        <p:cTn id="37" dur="500"/>
                                        <p:tgtEl>
                                          <p:spTgt spid="26"/>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dissolve">
                                      <p:cBhvr>
                                        <p:cTn id="40" dur="500"/>
                                        <p:tgtEl>
                                          <p:spTgt spid="28"/>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dissolve">
                                      <p:cBhvr>
                                        <p:cTn id="43" dur="500"/>
                                        <p:tgtEl>
                                          <p:spTgt spid="30"/>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dissolve">
                                      <p:cBhvr>
                                        <p:cTn id="46" dur="500"/>
                                        <p:tgtEl>
                                          <p:spTgt spid="31"/>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dissolve">
                                      <p:cBhvr>
                                        <p:cTn id="49" dur="500"/>
                                        <p:tgtEl>
                                          <p:spTgt spid="32"/>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dissolve">
                                      <p:cBhvr>
                                        <p:cTn id="52" dur="500"/>
                                        <p:tgtEl>
                                          <p:spTgt spid="33"/>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dissolve">
                                      <p:cBhvr>
                                        <p:cTn id="55" dur="500"/>
                                        <p:tgtEl>
                                          <p:spTgt spid="34"/>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35"/>
                                        </p:tgtEl>
                                        <p:attrNameLst>
                                          <p:attrName>style.visibility</p:attrName>
                                        </p:attrNameLst>
                                      </p:cBhvr>
                                      <p:to>
                                        <p:strVal val="visible"/>
                                      </p:to>
                                    </p:set>
                                    <p:animEffect transition="in" filter="dissolve">
                                      <p:cBhvr>
                                        <p:cTn id="58"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animBg="1"/>
      <p:bldP spid="19" grpId="0" animBg="1"/>
      <p:bldP spid="20" grpId="0" animBg="1"/>
      <p:bldP spid="21" grpId="0" animBg="1"/>
      <p:bldP spid="22" grpId="0" animBg="1"/>
      <p:bldP spid="23" grpId="0" animBg="1"/>
      <p:bldP spid="24" grpId="0"/>
      <p:bldP spid="25" grpId="0"/>
      <p:bldP spid="26" grpId="0"/>
      <p:bldP spid="28" grpId="0"/>
      <p:bldP spid="30" grpId="0"/>
      <p:bldP spid="31" grpId="0"/>
      <p:bldP spid="32" grpId="0" animBg="1"/>
      <p:bldP spid="33" grpId="0"/>
      <p:bldP spid="34" grpId="0" animBg="1"/>
      <p:bldP spid="3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E7D33-A7C1-0446-96CA-43DEB7FD4609}"/>
              </a:ext>
            </a:extLst>
          </p:cNvPr>
          <p:cNvSpPr>
            <a:spLocks noGrp="1"/>
          </p:cNvSpPr>
          <p:nvPr>
            <p:ph type="title"/>
          </p:nvPr>
        </p:nvSpPr>
        <p:spPr/>
        <p:txBody>
          <a:bodyPr/>
          <a:lstStyle/>
          <a:p>
            <a:r>
              <a:rPr lang="en-US" b="1" dirty="0">
                <a:solidFill>
                  <a:schemeClr val="accent6">
                    <a:lumMod val="50000"/>
                  </a:schemeClr>
                </a:solidFill>
                <a:latin typeface="Times New Roman" panose="02020603050405020304" pitchFamily="18" charset="0"/>
                <a:cs typeface="Times New Roman" panose="02020603050405020304" pitchFamily="18" charset="0"/>
              </a:rPr>
              <a:t>Background</a:t>
            </a:r>
          </a:p>
        </p:txBody>
      </p:sp>
      <p:sp>
        <p:nvSpPr>
          <p:cNvPr id="3" name="Content Placeholder 2">
            <a:extLst>
              <a:ext uri="{FF2B5EF4-FFF2-40B4-BE49-F238E27FC236}">
                <a16:creationId xmlns:a16="http://schemas.microsoft.com/office/drawing/2014/main" id="{5D3D0AFD-544C-1041-9763-C2935860D9C5}"/>
              </a:ext>
            </a:extLst>
          </p:cNvPr>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Known by many names as Egyptian cucumber or sponge gourd, </a:t>
            </a:r>
            <a:r>
              <a:rPr lang="en-US" i="1" dirty="0">
                <a:latin typeface="Times New Roman" panose="02020603050405020304" pitchFamily="18" charset="0"/>
                <a:cs typeface="Times New Roman" panose="02020603050405020304" pitchFamily="18" charset="0"/>
              </a:rPr>
              <a:t>Luffa </a:t>
            </a:r>
            <a:r>
              <a:rPr lang="en-US" i="1" dirty="0" err="1">
                <a:latin typeface="Times New Roman" panose="02020603050405020304" pitchFamily="18" charset="0"/>
                <a:cs typeface="Times New Roman" panose="02020603050405020304" pitchFamily="18" charset="0"/>
              </a:rPr>
              <a:t>aegyptiaca</a:t>
            </a:r>
            <a:r>
              <a:rPr lang="en-US"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is used extensively in traditional medicine around the world, but especially in tropical and subtropical countries. </a:t>
            </a:r>
          </a:p>
          <a:p>
            <a:r>
              <a:rPr lang="en-US" dirty="0">
                <a:latin typeface="Times New Roman" panose="02020603050405020304" pitchFamily="18" charset="0"/>
                <a:cs typeface="Times New Roman" panose="02020603050405020304" pitchFamily="18" charset="0"/>
              </a:rPr>
              <a:t>Its fruit, peel, and seeds have long been used by indigenous people to cure a variety of illnesses, including fever, gastrointestinal issues (including enteritis), inflammatory diseases, and localized edema. In addition to its medicinal uses, the plant is praised for its abundant nutritional profile, which includes vitamins, minerals, and bioactive substances including phenolic acids and flavonoids. </a:t>
            </a:r>
          </a:p>
          <a:p>
            <a:r>
              <a:rPr lang="en-US" dirty="0">
                <a:latin typeface="Times New Roman" panose="02020603050405020304" pitchFamily="18" charset="0"/>
                <a:cs typeface="Times New Roman" panose="02020603050405020304" pitchFamily="18" charset="0"/>
              </a:rPr>
              <a:t>In this study we aim to evaluate antioxidant activity of aqueous extract of pericarp of </a:t>
            </a:r>
            <a:r>
              <a:rPr lang="en-US" i="1" dirty="0">
                <a:latin typeface="Times New Roman" panose="02020603050405020304" pitchFamily="18" charset="0"/>
                <a:cs typeface="Times New Roman" panose="02020603050405020304" pitchFamily="18" charset="0"/>
              </a:rPr>
              <a:t>Luffa </a:t>
            </a:r>
            <a:r>
              <a:rPr lang="en-US" i="1" dirty="0" err="1">
                <a:latin typeface="Times New Roman" panose="02020603050405020304" pitchFamily="18" charset="0"/>
                <a:cs typeface="Times New Roman" panose="02020603050405020304" pitchFamily="18" charset="0"/>
              </a:rPr>
              <a:t>aegyptiaca</a:t>
            </a:r>
            <a:r>
              <a:rPr lang="en-US" i="1"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811844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994745-00BD-EC45-A764-3734C1F843D4}"/>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The prime goal of this project work is to evaluate the following activities:</a:t>
            </a:r>
          </a:p>
          <a:p>
            <a:r>
              <a:rPr lang="en-US" dirty="0">
                <a:latin typeface="Times New Roman" panose="02020603050405020304" pitchFamily="18" charset="0"/>
                <a:cs typeface="Times New Roman" panose="02020603050405020304" pitchFamily="18" charset="0"/>
              </a:rPr>
              <a:t>Assessment of antioxidant activity of aqueous extract of </a:t>
            </a:r>
            <a:r>
              <a:rPr lang="en-US" i="1" dirty="0">
                <a:latin typeface="Times New Roman" panose="02020603050405020304" pitchFamily="18" charset="0"/>
                <a:cs typeface="Times New Roman" panose="02020603050405020304" pitchFamily="18" charset="0"/>
              </a:rPr>
              <a:t>Luffa </a:t>
            </a:r>
            <a:r>
              <a:rPr lang="en-US" i="1" dirty="0" err="1">
                <a:latin typeface="Times New Roman" panose="02020603050405020304" pitchFamily="18" charset="0"/>
                <a:cs typeface="Times New Roman" panose="02020603050405020304" pitchFamily="18" charset="0"/>
              </a:rPr>
              <a:t>aegyptiaca</a:t>
            </a:r>
            <a:r>
              <a:rPr lang="en-US" dirty="0">
                <a:latin typeface="Times New Roman" panose="02020603050405020304" pitchFamily="18" charset="0"/>
                <a:cs typeface="Times New Roman" panose="02020603050405020304" pitchFamily="18" charset="0"/>
              </a:rPr>
              <a:t> pericarp by the following methods:</a:t>
            </a:r>
          </a:p>
          <a:p>
            <a:pPr marL="0" indent="0">
              <a:buNone/>
            </a:pPr>
            <a:r>
              <a:rPr lang="en-US" dirty="0">
                <a:latin typeface="Times New Roman" panose="02020603050405020304" pitchFamily="18" charset="0"/>
                <a:cs typeface="Times New Roman" panose="02020603050405020304" pitchFamily="18" charset="0"/>
              </a:rPr>
              <a:t>          A. DPPH free radical scavenging assay</a:t>
            </a:r>
          </a:p>
          <a:p>
            <a:pPr marL="0" indent="0">
              <a:buNone/>
            </a:pPr>
            <a:r>
              <a:rPr lang="en-US" dirty="0">
                <a:latin typeface="Times New Roman" panose="02020603050405020304" pitchFamily="18" charset="0"/>
                <a:cs typeface="Times New Roman" panose="02020603050405020304" pitchFamily="18" charset="0"/>
              </a:rPr>
              <a:t>          B. ABTS free radical scavenging assay</a:t>
            </a:r>
          </a:p>
          <a:p>
            <a:r>
              <a:rPr lang="en-US" dirty="0">
                <a:latin typeface="Times New Roman" panose="02020603050405020304" pitchFamily="18" charset="0"/>
                <a:cs typeface="Times New Roman" panose="02020603050405020304" pitchFamily="18" charset="0"/>
              </a:rPr>
              <a:t>To compare its efficacy with standard antioxidant (ascorbic acid) in mentioned two methods</a:t>
            </a:r>
          </a:p>
          <a:p>
            <a:endParaRPr lang="en-US" dirty="0"/>
          </a:p>
        </p:txBody>
      </p:sp>
      <p:sp>
        <p:nvSpPr>
          <p:cNvPr id="4" name="Title 1">
            <a:extLst>
              <a:ext uri="{FF2B5EF4-FFF2-40B4-BE49-F238E27FC236}">
                <a16:creationId xmlns:a16="http://schemas.microsoft.com/office/drawing/2014/main" id="{9E3AF3D8-5381-E147-8E4A-6927E10B3E97}"/>
              </a:ext>
            </a:extLst>
          </p:cNvPr>
          <p:cNvSpPr>
            <a:spLocks noGrp="1"/>
          </p:cNvSpPr>
          <p:nvPr>
            <p:ph type="title"/>
          </p:nvPr>
        </p:nvSpPr>
        <p:spPr/>
        <p:txBody>
          <a:bodyPr/>
          <a:lstStyle/>
          <a:p>
            <a:r>
              <a:rPr lang="en-US" b="1" dirty="0">
                <a:solidFill>
                  <a:schemeClr val="accent6">
                    <a:lumMod val="50000"/>
                  </a:schemeClr>
                </a:solidFill>
                <a:latin typeface="Times New Roman" panose="02020603050405020304" pitchFamily="18" charset="0"/>
                <a:cs typeface="Times New Roman" panose="02020603050405020304" pitchFamily="18" charset="0"/>
              </a:rPr>
              <a:t>Aims and Objectives</a:t>
            </a:r>
          </a:p>
        </p:txBody>
      </p:sp>
    </p:spTree>
    <p:extLst>
      <p:ext uri="{BB962C8B-B14F-4D97-AF65-F5344CB8AC3E}">
        <p14:creationId xmlns:p14="http://schemas.microsoft.com/office/powerpoint/2010/main" val="2820507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9934B5-B74A-6E47-9076-EAADE8A59857}"/>
              </a:ext>
            </a:extLst>
          </p:cNvPr>
          <p:cNvSpPr>
            <a:spLocks noGrp="1"/>
          </p:cNvSpPr>
          <p:nvPr>
            <p:ph idx="1"/>
          </p:nvPr>
        </p:nvSpPr>
        <p:spPr>
          <a:xfrm>
            <a:off x="5400135" y="2118923"/>
            <a:ext cx="6057181" cy="4351338"/>
          </a:xfrm>
        </p:spPr>
        <p:txBody>
          <a:bodyPr/>
          <a:lstStyle/>
          <a:p>
            <a:r>
              <a:rPr lang="en-US" b="1" dirty="0">
                <a:latin typeface="Times New Roman" panose="02020603050405020304" pitchFamily="18" charset="0"/>
                <a:cs typeface="Times New Roman" panose="02020603050405020304" pitchFamily="18" charset="0"/>
              </a:rPr>
              <a:t>Scientific Name: </a:t>
            </a:r>
            <a:r>
              <a:rPr lang="en-US" i="1" dirty="0">
                <a:latin typeface="Times New Roman" panose="02020603050405020304" pitchFamily="18" charset="0"/>
                <a:cs typeface="Times New Roman" panose="02020603050405020304" pitchFamily="18" charset="0"/>
              </a:rPr>
              <a:t>Luffa </a:t>
            </a:r>
            <a:r>
              <a:rPr lang="en-US" i="1" dirty="0" err="1">
                <a:latin typeface="Times New Roman" panose="02020603050405020304" pitchFamily="18" charset="0"/>
                <a:cs typeface="Times New Roman" panose="02020603050405020304" pitchFamily="18" charset="0"/>
              </a:rPr>
              <a:t>aegyptiaca</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Common Names: </a:t>
            </a:r>
            <a:r>
              <a:rPr lang="en-US" dirty="0">
                <a:latin typeface="Times New Roman" panose="02020603050405020304" pitchFamily="18" charset="0"/>
                <a:cs typeface="Times New Roman" panose="02020603050405020304" pitchFamily="18" charset="0"/>
              </a:rPr>
              <a:t>Dishrag gourd, Rag gourd, Sponge gourd &amp; Vegetable-sponge</a:t>
            </a:r>
          </a:p>
          <a:p>
            <a:r>
              <a:rPr lang="en-US" b="1" dirty="0">
                <a:latin typeface="Times New Roman" panose="02020603050405020304" pitchFamily="18" charset="0"/>
                <a:cs typeface="Times New Roman" panose="02020603050405020304" pitchFamily="18" charset="0"/>
              </a:rPr>
              <a:t>Local Name: </a:t>
            </a:r>
            <a:r>
              <a:rPr lang="en-US" dirty="0" err="1">
                <a:latin typeface="Times New Roman" panose="02020603050405020304" pitchFamily="18" charset="0"/>
                <a:cs typeface="Times New Roman" panose="02020603050405020304" pitchFamily="18" charset="0"/>
              </a:rPr>
              <a:t>Dhundul</a:t>
            </a:r>
            <a:endParaRPr lang="en-US"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377ECFD9-6F48-6149-BAFE-8E72B2C04126}"/>
              </a:ext>
            </a:extLst>
          </p:cNvPr>
          <p:cNvSpPr>
            <a:spLocks noGrp="1"/>
          </p:cNvSpPr>
          <p:nvPr>
            <p:ph type="title"/>
          </p:nvPr>
        </p:nvSpPr>
        <p:spPr/>
        <p:txBody>
          <a:bodyPr/>
          <a:lstStyle/>
          <a:p>
            <a:r>
              <a:rPr lang="en-US" b="1" dirty="0">
                <a:solidFill>
                  <a:schemeClr val="accent6">
                    <a:lumMod val="50000"/>
                  </a:schemeClr>
                </a:solidFill>
                <a:latin typeface="Times New Roman" panose="02020603050405020304" pitchFamily="18" charset="0"/>
                <a:cs typeface="Times New Roman" panose="02020603050405020304" pitchFamily="18" charset="0"/>
              </a:rPr>
              <a:t>Plant Preview</a:t>
            </a:r>
          </a:p>
        </p:txBody>
      </p:sp>
      <p:pic>
        <p:nvPicPr>
          <p:cNvPr id="5" name="Picture 4">
            <a:extLst>
              <a:ext uri="{FF2B5EF4-FFF2-40B4-BE49-F238E27FC236}">
                <a16:creationId xmlns:a16="http://schemas.microsoft.com/office/drawing/2014/main" id="{3CA2D9CF-5C9D-0940-A983-E7A264B2CA62}"/>
              </a:ext>
            </a:extLst>
          </p:cNvPr>
          <p:cNvPicPr>
            <a:picLocks noChangeAspect="1"/>
          </p:cNvPicPr>
          <p:nvPr/>
        </p:nvPicPr>
        <p:blipFill>
          <a:blip r:embed="rId2"/>
          <a:stretch>
            <a:fillRect/>
          </a:stretch>
        </p:blipFill>
        <p:spPr>
          <a:xfrm>
            <a:off x="838200" y="1826441"/>
            <a:ext cx="4218317" cy="3163738"/>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D7372CCB-B9B8-134C-A309-0226BBB54E1B}"/>
              </a:ext>
            </a:extLst>
          </p:cNvPr>
          <p:cNvSpPr txBox="1"/>
          <p:nvPr/>
        </p:nvSpPr>
        <p:spPr>
          <a:xfrm>
            <a:off x="838200" y="5201997"/>
            <a:ext cx="10402019" cy="1661993"/>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Geographical Distribution:</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Native to South and Southeast Asia</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Cultivated in China, India, Korea, Japan, Central America, Brazil</a:t>
            </a:r>
          </a:p>
          <a:p>
            <a:endParaRPr lang="en-US" dirty="0"/>
          </a:p>
        </p:txBody>
      </p:sp>
    </p:spTree>
    <p:extLst>
      <p:ext uri="{BB962C8B-B14F-4D97-AF65-F5344CB8AC3E}">
        <p14:creationId xmlns:p14="http://schemas.microsoft.com/office/powerpoint/2010/main" val="4055837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A8B90D-76C5-8540-9829-4BB05E57216C}"/>
              </a:ext>
            </a:extLst>
          </p:cNvPr>
          <p:cNvSpPr>
            <a:spLocks noGrp="1"/>
          </p:cNvSpPr>
          <p:nvPr>
            <p:ph idx="1"/>
          </p:nvPr>
        </p:nvSpPr>
        <p:spPr>
          <a:xfrm>
            <a:off x="838200" y="1454689"/>
            <a:ext cx="10515600" cy="4351338"/>
          </a:xfrm>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Taxonomical Classification</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Kingdom: </a:t>
            </a:r>
            <a:r>
              <a:rPr lang="en-US" dirty="0">
                <a:latin typeface="Times New Roman" panose="02020603050405020304" pitchFamily="18" charset="0"/>
                <a:cs typeface="Times New Roman" panose="02020603050405020304" pitchFamily="18" charset="0"/>
              </a:rPr>
              <a:t>Plantae </a:t>
            </a:r>
          </a:p>
          <a:p>
            <a:pPr marL="0" indent="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Phylum: </a:t>
            </a:r>
            <a:r>
              <a:rPr lang="en-US" dirty="0" err="1">
                <a:latin typeface="Times New Roman" panose="02020603050405020304" pitchFamily="18" charset="0"/>
                <a:cs typeface="Times New Roman" panose="02020603050405020304" pitchFamily="18" charset="0"/>
              </a:rPr>
              <a:t>Tracheophyta</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Class: </a:t>
            </a:r>
            <a:r>
              <a:rPr lang="en-US" dirty="0" err="1">
                <a:latin typeface="Times New Roman" panose="02020603050405020304" pitchFamily="18" charset="0"/>
                <a:cs typeface="Times New Roman" panose="02020603050405020304" pitchFamily="18" charset="0"/>
              </a:rPr>
              <a:t>Magnoliopsida</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Order: </a:t>
            </a:r>
            <a:r>
              <a:rPr lang="en-US" dirty="0" err="1">
                <a:latin typeface="Times New Roman" panose="02020603050405020304" pitchFamily="18" charset="0"/>
                <a:cs typeface="Times New Roman" panose="02020603050405020304" pitchFamily="18" charset="0"/>
              </a:rPr>
              <a:t>Cucurbitales</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Family: </a:t>
            </a:r>
            <a:r>
              <a:rPr lang="en-US" dirty="0" err="1">
                <a:latin typeface="Times New Roman" panose="02020603050405020304" pitchFamily="18" charset="0"/>
                <a:cs typeface="Times New Roman" panose="02020603050405020304" pitchFamily="18" charset="0"/>
              </a:rPr>
              <a:t>Cucurbitaceae</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Genus: </a:t>
            </a:r>
            <a:r>
              <a:rPr lang="en-US" i="1" dirty="0">
                <a:latin typeface="Times New Roman" panose="02020603050405020304" pitchFamily="18" charset="0"/>
                <a:cs typeface="Times New Roman" panose="02020603050405020304" pitchFamily="18" charset="0"/>
              </a:rPr>
              <a:t>Luffa</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Species: </a:t>
            </a:r>
            <a:r>
              <a:rPr lang="en-US" i="1" dirty="0">
                <a:latin typeface="Times New Roman" panose="02020603050405020304" pitchFamily="18" charset="0"/>
                <a:cs typeface="Times New Roman" panose="02020603050405020304" pitchFamily="18" charset="0"/>
              </a:rPr>
              <a:t>Luffa </a:t>
            </a:r>
            <a:r>
              <a:rPr lang="en-US" i="1" dirty="0" err="1">
                <a:latin typeface="Times New Roman" panose="02020603050405020304" pitchFamily="18" charset="0"/>
                <a:cs typeface="Times New Roman" panose="02020603050405020304" pitchFamily="18" charset="0"/>
              </a:rPr>
              <a:t>aegyptiaca</a:t>
            </a:r>
            <a:endParaRPr lang="en-US" i="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252D696-52B1-B74C-9C9E-E96629CE30AC}"/>
              </a:ext>
            </a:extLst>
          </p:cNvPr>
          <p:cNvSpPr txBox="1"/>
          <p:nvPr/>
        </p:nvSpPr>
        <p:spPr>
          <a:xfrm>
            <a:off x="838200" y="370939"/>
            <a:ext cx="3405996" cy="523220"/>
          </a:xfrm>
          <a:prstGeom prst="rect">
            <a:avLst/>
          </a:prstGeom>
          <a:noFill/>
        </p:spPr>
        <p:txBody>
          <a:bodyPr wrap="square" rtlCol="0">
            <a:spAutoFit/>
          </a:bodyPr>
          <a:lstStyle/>
          <a:p>
            <a:r>
              <a:rPr lang="en-US" sz="2800" dirty="0">
                <a:solidFill>
                  <a:schemeClr val="accent6">
                    <a:lumMod val="50000"/>
                  </a:schemeClr>
                </a:solidFill>
                <a:latin typeface="Times New Roman" panose="02020603050405020304" pitchFamily="18" charset="0"/>
                <a:cs typeface="Times New Roman" panose="02020603050405020304" pitchFamily="18" charset="0"/>
              </a:rPr>
              <a:t>Continue</a:t>
            </a:r>
            <a:r>
              <a:rPr lang="en-US" sz="2800" dirty="0">
                <a:latin typeface="Times New Roman" panose="02020603050405020304" pitchFamily="18" charset="0"/>
                <a:cs typeface="Times New Roman" panose="02020603050405020304" pitchFamily="18" charset="0"/>
              </a:rPr>
              <a:t> </a:t>
            </a:r>
          </a:p>
        </p:txBody>
      </p:sp>
      <p:cxnSp>
        <p:nvCxnSpPr>
          <p:cNvPr id="6" name="Straight Arrow Connector 5">
            <a:extLst>
              <a:ext uri="{FF2B5EF4-FFF2-40B4-BE49-F238E27FC236}">
                <a16:creationId xmlns:a16="http://schemas.microsoft.com/office/drawing/2014/main" id="{6DFBDCC7-F8A1-4E4D-BB29-B605476552F5}"/>
              </a:ext>
            </a:extLst>
          </p:cNvPr>
          <p:cNvCxnSpPr/>
          <p:nvPr/>
        </p:nvCxnSpPr>
        <p:spPr>
          <a:xfrm>
            <a:off x="2286000" y="690115"/>
            <a:ext cx="388189" cy="0"/>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102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501E645-974B-C441-A451-6204DE5F36EE}"/>
              </a:ext>
            </a:extLst>
          </p:cNvPr>
          <p:cNvSpPr>
            <a:spLocks noGrp="1"/>
          </p:cNvSpPr>
          <p:nvPr>
            <p:ph type="title"/>
          </p:nvPr>
        </p:nvSpPr>
        <p:spPr>
          <a:xfrm>
            <a:off x="921772" y="80523"/>
            <a:ext cx="10515600" cy="1325563"/>
          </a:xfrm>
        </p:spPr>
        <p:txBody>
          <a:bodyPr/>
          <a:lstStyle/>
          <a:p>
            <a:r>
              <a:rPr lang="en-US" b="1" dirty="0">
                <a:solidFill>
                  <a:schemeClr val="accent6">
                    <a:lumMod val="50000"/>
                  </a:schemeClr>
                </a:solidFill>
                <a:latin typeface="Times New Roman" panose="02020603050405020304" pitchFamily="18" charset="0"/>
                <a:cs typeface="Times New Roman" panose="02020603050405020304" pitchFamily="18" charset="0"/>
              </a:rPr>
              <a:t>Extract Preparation</a:t>
            </a:r>
          </a:p>
        </p:txBody>
      </p:sp>
      <p:pic>
        <p:nvPicPr>
          <p:cNvPr id="10" name="Picture 9">
            <a:extLst>
              <a:ext uri="{FF2B5EF4-FFF2-40B4-BE49-F238E27FC236}">
                <a16:creationId xmlns:a16="http://schemas.microsoft.com/office/drawing/2014/main" id="{072AF29E-88E7-454E-B281-99C836F8D852}"/>
              </a:ext>
            </a:extLst>
          </p:cNvPr>
          <p:cNvPicPr>
            <a:picLocks noChangeAspect="1"/>
          </p:cNvPicPr>
          <p:nvPr/>
        </p:nvPicPr>
        <p:blipFill>
          <a:blip r:embed="rId2"/>
          <a:stretch>
            <a:fillRect/>
          </a:stretch>
        </p:blipFill>
        <p:spPr>
          <a:xfrm>
            <a:off x="8982455" y="5453295"/>
            <a:ext cx="1013517" cy="1336660"/>
          </a:xfrm>
          <a:prstGeom prst="rect">
            <a:avLst/>
          </a:prstGeom>
        </p:spPr>
      </p:pic>
      <p:sp>
        <p:nvSpPr>
          <p:cNvPr id="11" name="TextBox 10">
            <a:extLst>
              <a:ext uri="{FF2B5EF4-FFF2-40B4-BE49-F238E27FC236}">
                <a16:creationId xmlns:a16="http://schemas.microsoft.com/office/drawing/2014/main" id="{362906D7-96D7-6A40-943A-A1E24C373189}"/>
              </a:ext>
            </a:extLst>
          </p:cNvPr>
          <p:cNvSpPr txBox="1"/>
          <p:nvPr/>
        </p:nvSpPr>
        <p:spPr>
          <a:xfrm>
            <a:off x="1199720" y="1338708"/>
            <a:ext cx="962108"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Step 1</a:t>
            </a:r>
          </a:p>
        </p:txBody>
      </p:sp>
      <p:sp>
        <p:nvSpPr>
          <p:cNvPr id="12" name="TextBox 11">
            <a:extLst>
              <a:ext uri="{FF2B5EF4-FFF2-40B4-BE49-F238E27FC236}">
                <a16:creationId xmlns:a16="http://schemas.microsoft.com/office/drawing/2014/main" id="{F89D9451-710B-964D-9AC7-CA636DDAA1DA}"/>
              </a:ext>
            </a:extLst>
          </p:cNvPr>
          <p:cNvSpPr txBox="1"/>
          <p:nvPr/>
        </p:nvSpPr>
        <p:spPr>
          <a:xfrm>
            <a:off x="2882632" y="2320808"/>
            <a:ext cx="82693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Step 3</a:t>
            </a:r>
          </a:p>
        </p:txBody>
      </p:sp>
      <p:sp>
        <p:nvSpPr>
          <p:cNvPr id="13" name="TextBox 12">
            <a:extLst>
              <a:ext uri="{FF2B5EF4-FFF2-40B4-BE49-F238E27FC236}">
                <a16:creationId xmlns:a16="http://schemas.microsoft.com/office/drawing/2014/main" id="{0CB7D822-F0E7-A145-A54E-9006CB5AC9CB}"/>
              </a:ext>
            </a:extLst>
          </p:cNvPr>
          <p:cNvSpPr txBox="1"/>
          <p:nvPr/>
        </p:nvSpPr>
        <p:spPr>
          <a:xfrm>
            <a:off x="5754987" y="2179440"/>
            <a:ext cx="111636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Step 5</a:t>
            </a:r>
          </a:p>
        </p:txBody>
      </p:sp>
      <p:sp>
        <p:nvSpPr>
          <p:cNvPr id="14" name="TextBox 13">
            <a:extLst>
              <a:ext uri="{FF2B5EF4-FFF2-40B4-BE49-F238E27FC236}">
                <a16:creationId xmlns:a16="http://schemas.microsoft.com/office/drawing/2014/main" id="{BD3C0F4F-2C27-2C47-A961-F921D0DEE7D5}"/>
              </a:ext>
            </a:extLst>
          </p:cNvPr>
          <p:cNvSpPr txBox="1"/>
          <p:nvPr/>
        </p:nvSpPr>
        <p:spPr>
          <a:xfrm>
            <a:off x="7578705" y="1355884"/>
            <a:ext cx="104480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Step 6</a:t>
            </a:r>
          </a:p>
        </p:txBody>
      </p:sp>
      <p:sp>
        <p:nvSpPr>
          <p:cNvPr id="15" name="TextBox 14">
            <a:extLst>
              <a:ext uri="{FF2B5EF4-FFF2-40B4-BE49-F238E27FC236}">
                <a16:creationId xmlns:a16="http://schemas.microsoft.com/office/drawing/2014/main" id="{5CCEF297-6E94-1548-A284-F20B8DB35B3D}"/>
              </a:ext>
            </a:extLst>
          </p:cNvPr>
          <p:cNvSpPr txBox="1"/>
          <p:nvPr/>
        </p:nvSpPr>
        <p:spPr>
          <a:xfrm>
            <a:off x="8968580" y="3190524"/>
            <a:ext cx="88817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Step 7</a:t>
            </a:r>
          </a:p>
        </p:txBody>
      </p:sp>
      <p:sp>
        <p:nvSpPr>
          <p:cNvPr id="16" name="TextBox 15">
            <a:extLst>
              <a:ext uri="{FF2B5EF4-FFF2-40B4-BE49-F238E27FC236}">
                <a16:creationId xmlns:a16="http://schemas.microsoft.com/office/drawing/2014/main" id="{8BD7A1A7-7968-0A48-9539-44E612263966}"/>
              </a:ext>
            </a:extLst>
          </p:cNvPr>
          <p:cNvSpPr txBox="1"/>
          <p:nvPr/>
        </p:nvSpPr>
        <p:spPr>
          <a:xfrm>
            <a:off x="6626976" y="4507468"/>
            <a:ext cx="903856"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Step 9</a:t>
            </a:r>
          </a:p>
        </p:txBody>
      </p:sp>
      <p:sp>
        <p:nvSpPr>
          <p:cNvPr id="17" name="TextBox 16">
            <a:extLst>
              <a:ext uri="{FF2B5EF4-FFF2-40B4-BE49-F238E27FC236}">
                <a16:creationId xmlns:a16="http://schemas.microsoft.com/office/drawing/2014/main" id="{4E1F5E40-DCBC-EA45-B93D-C79C5EC7990D}"/>
              </a:ext>
            </a:extLst>
          </p:cNvPr>
          <p:cNvSpPr txBox="1"/>
          <p:nvPr/>
        </p:nvSpPr>
        <p:spPr>
          <a:xfrm>
            <a:off x="4199520" y="1330542"/>
            <a:ext cx="78717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Step 4</a:t>
            </a:r>
          </a:p>
        </p:txBody>
      </p:sp>
      <p:sp>
        <p:nvSpPr>
          <p:cNvPr id="18" name="TextBox 17">
            <a:extLst>
              <a:ext uri="{FF2B5EF4-FFF2-40B4-BE49-F238E27FC236}">
                <a16:creationId xmlns:a16="http://schemas.microsoft.com/office/drawing/2014/main" id="{AE31DF63-3DAB-F548-BC57-1507286DAC72}"/>
              </a:ext>
            </a:extLst>
          </p:cNvPr>
          <p:cNvSpPr txBox="1"/>
          <p:nvPr/>
        </p:nvSpPr>
        <p:spPr>
          <a:xfrm>
            <a:off x="990884" y="3204199"/>
            <a:ext cx="1510748" cy="523220"/>
          </a:xfrm>
          <a:prstGeom prst="rect">
            <a:avLst/>
          </a:prstGeom>
          <a:noFill/>
        </p:spPr>
        <p:txBody>
          <a:bodyPr wrap="square" rtlCol="0">
            <a:spAutoFit/>
          </a:bodyPr>
          <a:lstStyle/>
          <a:p>
            <a:pPr algn="ctr"/>
            <a:r>
              <a:rPr lang="en-US" sz="1400" b="1" dirty="0">
                <a:latin typeface="Times New Roman" panose="02020603050405020304" pitchFamily="18" charset="0"/>
                <a:cs typeface="Times New Roman" panose="02020603050405020304" pitchFamily="18" charset="0"/>
              </a:rPr>
              <a:t>Plant’s Fruit Collection</a:t>
            </a:r>
          </a:p>
        </p:txBody>
      </p:sp>
      <p:sp>
        <p:nvSpPr>
          <p:cNvPr id="19" name="TextBox 18">
            <a:extLst>
              <a:ext uri="{FF2B5EF4-FFF2-40B4-BE49-F238E27FC236}">
                <a16:creationId xmlns:a16="http://schemas.microsoft.com/office/drawing/2014/main" id="{981FE7AC-C432-0C45-AE7F-102664E16F89}"/>
              </a:ext>
            </a:extLst>
          </p:cNvPr>
          <p:cNvSpPr txBox="1"/>
          <p:nvPr/>
        </p:nvSpPr>
        <p:spPr>
          <a:xfrm>
            <a:off x="2958832" y="4077399"/>
            <a:ext cx="762000" cy="307777"/>
          </a:xfrm>
          <a:prstGeom prst="rect">
            <a:avLst/>
          </a:prstGeom>
          <a:noFill/>
        </p:spPr>
        <p:txBody>
          <a:bodyPr wrap="square" rtlCol="0">
            <a:spAutoFit/>
          </a:bodyPr>
          <a:lstStyle/>
          <a:p>
            <a:r>
              <a:rPr lang="en-US" sz="1400" b="1" dirty="0">
                <a:latin typeface="Times New Roman" panose="02020603050405020304" pitchFamily="18" charset="0"/>
                <a:cs typeface="Times New Roman" panose="02020603050405020304" pitchFamily="18" charset="0"/>
              </a:rPr>
              <a:t>Drying</a:t>
            </a:r>
            <a:endParaRPr lang="en-US" b="1"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90F36C7A-9B08-434E-837D-FF15581CA702}"/>
              </a:ext>
            </a:extLst>
          </p:cNvPr>
          <p:cNvSpPr txBox="1"/>
          <p:nvPr/>
        </p:nvSpPr>
        <p:spPr>
          <a:xfrm>
            <a:off x="4038932" y="3320669"/>
            <a:ext cx="1139310" cy="954107"/>
          </a:xfrm>
          <a:prstGeom prst="rect">
            <a:avLst/>
          </a:prstGeom>
          <a:noFill/>
        </p:spPr>
        <p:txBody>
          <a:bodyPr wrap="square" rtlCol="0">
            <a:spAutoFit/>
          </a:bodyPr>
          <a:lstStyle/>
          <a:p>
            <a:r>
              <a:rPr lang="en-US" sz="1400" b="1" dirty="0">
                <a:latin typeface="Times New Roman" panose="02020603050405020304" pitchFamily="18" charset="0"/>
                <a:cs typeface="Times New Roman" panose="02020603050405020304" pitchFamily="18" charset="0"/>
              </a:rPr>
              <a:t>By Grinding</a:t>
            </a:r>
          </a:p>
          <a:p>
            <a:r>
              <a:rPr lang="en-US" sz="1400" b="1" dirty="0">
                <a:latin typeface="Times New Roman" panose="02020603050405020304" pitchFamily="18" charset="0"/>
                <a:cs typeface="Times New Roman" panose="02020603050405020304" pitchFamily="18" charset="0"/>
              </a:rPr>
              <a:t>Making powder of peels</a:t>
            </a:r>
            <a:endParaRPr lang="en-US" b="1"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0D2EF48C-E078-E042-A399-91C954AD5EF3}"/>
              </a:ext>
            </a:extLst>
          </p:cNvPr>
          <p:cNvSpPr txBox="1"/>
          <p:nvPr/>
        </p:nvSpPr>
        <p:spPr>
          <a:xfrm>
            <a:off x="5518522" y="2634288"/>
            <a:ext cx="1258406" cy="738664"/>
          </a:xfrm>
          <a:prstGeom prst="rect">
            <a:avLst/>
          </a:prstGeom>
          <a:noFill/>
          <a:ln>
            <a:solidFill>
              <a:schemeClr val="tx1"/>
            </a:solidFill>
          </a:ln>
        </p:spPr>
        <p:txBody>
          <a:bodyPr wrap="square" rtlCol="0">
            <a:spAutoFit/>
          </a:bodyPr>
          <a:lstStyle/>
          <a:p>
            <a:pPr algn="ctr"/>
            <a:r>
              <a:rPr lang="en-US" sz="1400" b="1" dirty="0">
                <a:latin typeface="Times New Roman" panose="02020603050405020304" pitchFamily="18" charset="0"/>
                <a:cs typeface="Times New Roman" panose="02020603050405020304" pitchFamily="18" charset="0"/>
              </a:rPr>
              <a:t>Mixed Distilled Water</a:t>
            </a:r>
          </a:p>
        </p:txBody>
      </p:sp>
      <p:sp>
        <p:nvSpPr>
          <p:cNvPr id="22" name="TextBox 21">
            <a:extLst>
              <a:ext uri="{FF2B5EF4-FFF2-40B4-BE49-F238E27FC236}">
                <a16:creationId xmlns:a16="http://schemas.microsoft.com/office/drawing/2014/main" id="{3793DA41-841C-5A44-A935-A20E5FE5F048}"/>
              </a:ext>
            </a:extLst>
          </p:cNvPr>
          <p:cNvSpPr txBox="1"/>
          <p:nvPr/>
        </p:nvSpPr>
        <p:spPr>
          <a:xfrm>
            <a:off x="8982455" y="2103760"/>
            <a:ext cx="1256306" cy="692497"/>
          </a:xfrm>
          <a:prstGeom prst="rect">
            <a:avLst/>
          </a:prstGeom>
          <a:noFill/>
        </p:spPr>
        <p:txBody>
          <a:bodyPr wrap="square" rtlCol="0">
            <a:spAutoFit/>
          </a:bodyPr>
          <a:lstStyle/>
          <a:p>
            <a:r>
              <a:rPr lang="en-US" sz="1300" b="1" dirty="0">
                <a:latin typeface="Times New Roman" panose="02020603050405020304" pitchFamily="18" charset="0"/>
                <a:cs typeface="Times New Roman" panose="02020603050405020304" pitchFamily="18" charset="0"/>
              </a:rPr>
              <a:t>Evaporation with Rotary Evaporator</a:t>
            </a:r>
          </a:p>
        </p:txBody>
      </p:sp>
      <p:sp>
        <p:nvSpPr>
          <p:cNvPr id="23" name="TextBox 22">
            <a:extLst>
              <a:ext uri="{FF2B5EF4-FFF2-40B4-BE49-F238E27FC236}">
                <a16:creationId xmlns:a16="http://schemas.microsoft.com/office/drawing/2014/main" id="{18C3D1D5-AC53-E94C-B7A6-083949A5D5C6}"/>
              </a:ext>
            </a:extLst>
          </p:cNvPr>
          <p:cNvSpPr txBox="1"/>
          <p:nvPr/>
        </p:nvSpPr>
        <p:spPr>
          <a:xfrm>
            <a:off x="8955890" y="4692134"/>
            <a:ext cx="1128057" cy="307777"/>
          </a:xfrm>
          <a:prstGeom prst="rect">
            <a:avLst/>
          </a:prstGeom>
          <a:noFill/>
        </p:spPr>
        <p:txBody>
          <a:bodyPr wrap="square" rtlCol="0">
            <a:spAutoFit/>
          </a:bodyPr>
          <a:lstStyle/>
          <a:p>
            <a:pPr algn="ctr"/>
            <a:r>
              <a:rPr lang="en-US" sz="1400" b="1" dirty="0">
                <a:latin typeface="Times New Roman" panose="02020603050405020304" pitchFamily="18" charset="0"/>
                <a:cs typeface="Times New Roman" panose="02020603050405020304" pitchFamily="18" charset="0"/>
              </a:rPr>
              <a:t>Filtration</a:t>
            </a:r>
          </a:p>
        </p:txBody>
      </p:sp>
      <p:sp>
        <p:nvSpPr>
          <p:cNvPr id="24" name="TextBox 23">
            <a:extLst>
              <a:ext uri="{FF2B5EF4-FFF2-40B4-BE49-F238E27FC236}">
                <a16:creationId xmlns:a16="http://schemas.microsoft.com/office/drawing/2014/main" id="{772E4BD5-30EA-9749-BBEE-9B2DB51E2F3D}"/>
              </a:ext>
            </a:extLst>
          </p:cNvPr>
          <p:cNvSpPr txBox="1"/>
          <p:nvPr/>
        </p:nvSpPr>
        <p:spPr>
          <a:xfrm>
            <a:off x="6303394" y="6186686"/>
            <a:ext cx="1477212" cy="307777"/>
          </a:xfrm>
          <a:prstGeom prst="rect">
            <a:avLst/>
          </a:prstGeom>
          <a:noFill/>
        </p:spPr>
        <p:txBody>
          <a:bodyPr wrap="square" rtlCol="0">
            <a:spAutoFit/>
          </a:bodyPr>
          <a:lstStyle/>
          <a:p>
            <a:pPr algn="ctr"/>
            <a:r>
              <a:rPr lang="en-US" sz="1400" b="1" dirty="0">
                <a:latin typeface="Times New Roman" panose="02020603050405020304" pitchFamily="18" charset="0"/>
                <a:cs typeface="Times New Roman" panose="02020603050405020304" pitchFamily="18" charset="0"/>
              </a:rPr>
              <a:t>Crude Extract</a:t>
            </a:r>
          </a:p>
        </p:txBody>
      </p:sp>
      <p:cxnSp>
        <p:nvCxnSpPr>
          <p:cNvPr id="25" name="Elbow Connector 24">
            <a:extLst>
              <a:ext uri="{FF2B5EF4-FFF2-40B4-BE49-F238E27FC236}">
                <a16:creationId xmlns:a16="http://schemas.microsoft.com/office/drawing/2014/main" id="{26C0BD2F-BDF2-9242-86BE-EF386BC4AF3E}"/>
              </a:ext>
            </a:extLst>
          </p:cNvPr>
          <p:cNvCxnSpPr/>
          <p:nvPr/>
        </p:nvCxnSpPr>
        <p:spPr>
          <a:xfrm rot="5400000" flipH="1" flipV="1">
            <a:off x="2015710" y="2394236"/>
            <a:ext cx="17689" cy="12700"/>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6" name="Elbow Connector 25">
            <a:extLst>
              <a:ext uri="{FF2B5EF4-FFF2-40B4-BE49-F238E27FC236}">
                <a16:creationId xmlns:a16="http://schemas.microsoft.com/office/drawing/2014/main" id="{9CC3961C-38FA-1847-8E4D-0057D59D8C71}"/>
              </a:ext>
            </a:extLst>
          </p:cNvPr>
          <p:cNvCxnSpPr>
            <a:cxnSpLocks/>
            <a:stCxn id="21" idx="3"/>
          </p:cNvCxnSpPr>
          <p:nvPr/>
        </p:nvCxnSpPr>
        <p:spPr>
          <a:xfrm flipV="1">
            <a:off x="6776928" y="2400586"/>
            <a:ext cx="737986" cy="60303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Elbow Connector 26">
            <a:extLst>
              <a:ext uri="{FF2B5EF4-FFF2-40B4-BE49-F238E27FC236}">
                <a16:creationId xmlns:a16="http://schemas.microsoft.com/office/drawing/2014/main" id="{E87175BB-6B13-9B49-B08B-BBB2AC971D84}"/>
              </a:ext>
            </a:extLst>
          </p:cNvPr>
          <p:cNvCxnSpPr>
            <a:cxnSpLocks/>
            <a:stCxn id="46" idx="2"/>
            <a:endCxn id="48" idx="1"/>
          </p:cNvCxnSpPr>
          <p:nvPr/>
        </p:nvCxnSpPr>
        <p:spPr>
          <a:xfrm rot="16200000" flipH="1">
            <a:off x="7995053" y="3389519"/>
            <a:ext cx="1013966" cy="50670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Elbow Connector 27">
            <a:extLst>
              <a:ext uri="{FF2B5EF4-FFF2-40B4-BE49-F238E27FC236}">
                <a16:creationId xmlns:a16="http://schemas.microsoft.com/office/drawing/2014/main" id="{0D9E984B-9DE5-5C4E-AD3A-A1D6FE98C7CE}"/>
              </a:ext>
            </a:extLst>
          </p:cNvPr>
          <p:cNvCxnSpPr>
            <a:cxnSpLocks/>
            <a:stCxn id="10" idx="1"/>
          </p:cNvCxnSpPr>
          <p:nvPr/>
        </p:nvCxnSpPr>
        <p:spPr>
          <a:xfrm rot="10800000">
            <a:off x="7513059" y="5685635"/>
            <a:ext cx="1469396" cy="43599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Elbow Connector 28">
            <a:extLst>
              <a:ext uri="{FF2B5EF4-FFF2-40B4-BE49-F238E27FC236}">
                <a16:creationId xmlns:a16="http://schemas.microsoft.com/office/drawing/2014/main" id="{4D26A186-6D18-4944-A098-E444A999E6F8}"/>
              </a:ext>
            </a:extLst>
          </p:cNvPr>
          <p:cNvCxnSpPr>
            <a:cxnSpLocks/>
            <a:stCxn id="18" idx="0"/>
            <a:endCxn id="39" idx="1"/>
          </p:cNvCxnSpPr>
          <p:nvPr/>
        </p:nvCxnSpPr>
        <p:spPr>
          <a:xfrm rot="16200000" flipH="1" flipV="1">
            <a:off x="563867" y="4298043"/>
            <a:ext cx="2276236" cy="88547"/>
          </a:xfrm>
          <a:prstGeom prst="bentConnector4">
            <a:avLst>
              <a:gd name="adj1" fmla="val -10043"/>
              <a:gd name="adj2" fmla="val 111124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Elbow Connector 29">
            <a:extLst>
              <a:ext uri="{FF2B5EF4-FFF2-40B4-BE49-F238E27FC236}">
                <a16:creationId xmlns:a16="http://schemas.microsoft.com/office/drawing/2014/main" id="{1BC93941-72D6-2A4E-87C3-BDAD0EF8138B}"/>
              </a:ext>
            </a:extLst>
          </p:cNvPr>
          <p:cNvCxnSpPr>
            <a:cxnSpLocks/>
          </p:cNvCxnSpPr>
          <p:nvPr/>
        </p:nvCxnSpPr>
        <p:spPr>
          <a:xfrm flipV="1">
            <a:off x="3797032" y="2529320"/>
            <a:ext cx="263056" cy="86558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Elbow Connector 30">
            <a:extLst>
              <a:ext uri="{FF2B5EF4-FFF2-40B4-BE49-F238E27FC236}">
                <a16:creationId xmlns:a16="http://schemas.microsoft.com/office/drawing/2014/main" id="{C25C0F5B-B89D-1D44-9E33-11A2FEDFD0A1}"/>
              </a:ext>
            </a:extLst>
          </p:cNvPr>
          <p:cNvCxnSpPr>
            <a:cxnSpLocks/>
            <a:endCxn id="21" idx="1"/>
          </p:cNvCxnSpPr>
          <p:nvPr/>
        </p:nvCxnSpPr>
        <p:spPr>
          <a:xfrm flipV="1">
            <a:off x="5115915" y="3003620"/>
            <a:ext cx="402607" cy="4744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32" name="Picture 31">
            <a:extLst>
              <a:ext uri="{FF2B5EF4-FFF2-40B4-BE49-F238E27FC236}">
                <a16:creationId xmlns:a16="http://schemas.microsoft.com/office/drawing/2014/main" id="{4F0B2CE7-7363-DC47-A797-5262FC7F62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43947" y="4876800"/>
            <a:ext cx="996107" cy="1309886"/>
          </a:xfrm>
          <a:prstGeom prst="rect">
            <a:avLst/>
          </a:prstGeom>
        </p:spPr>
      </p:pic>
      <p:cxnSp>
        <p:nvCxnSpPr>
          <p:cNvPr id="34" name="Elbow Connector 33">
            <a:extLst>
              <a:ext uri="{FF2B5EF4-FFF2-40B4-BE49-F238E27FC236}">
                <a16:creationId xmlns:a16="http://schemas.microsoft.com/office/drawing/2014/main" id="{D8125DA9-DA92-A849-A523-4DD50F2D9C68}"/>
              </a:ext>
            </a:extLst>
          </p:cNvPr>
          <p:cNvCxnSpPr>
            <a:cxnSpLocks/>
            <a:stCxn id="39" idx="3"/>
            <a:endCxn id="41" idx="1"/>
          </p:cNvCxnSpPr>
          <p:nvPr/>
        </p:nvCxnSpPr>
        <p:spPr>
          <a:xfrm flipV="1">
            <a:off x="2657783" y="3372952"/>
            <a:ext cx="227337" cy="210748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019B4D37-0881-B149-A346-96A3A80674B6}"/>
              </a:ext>
            </a:extLst>
          </p:cNvPr>
          <p:cNvSpPr txBox="1"/>
          <p:nvPr/>
        </p:nvSpPr>
        <p:spPr>
          <a:xfrm>
            <a:off x="1722155" y="4398402"/>
            <a:ext cx="82693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Step 2</a:t>
            </a:r>
          </a:p>
        </p:txBody>
      </p:sp>
      <p:sp>
        <p:nvSpPr>
          <p:cNvPr id="36" name="TextBox 35">
            <a:extLst>
              <a:ext uri="{FF2B5EF4-FFF2-40B4-BE49-F238E27FC236}">
                <a16:creationId xmlns:a16="http://schemas.microsoft.com/office/drawing/2014/main" id="{599A5280-06DD-F444-94C9-16BF10F809F0}"/>
              </a:ext>
            </a:extLst>
          </p:cNvPr>
          <p:cNvSpPr txBox="1"/>
          <p:nvPr/>
        </p:nvSpPr>
        <p:spPr>
          <a:xfrm>
            <a:off x="1617437" y="6195905"/>
            <a:ext cx="1025606" cy="523220"/>
          </a:xfrm>
          <a:prstGeom prst="rect">
            <a:avLst/>
          </a:prstGeom>
          <a:noFill/>
        </p:spPr>
        <p:txBody>
          <a:bodyPr wrap="square" rtlCol="0">
            <a:spAutoFit/>
          </a:bodyPr>
          <a:lstStyle/>
          <a:p>
            <a:r>
              <a:rPr lang="en-US" sz="1400" b="1" dirty="0">
                <a:latin typeface="Times New Roman" panose="02020603050405020304" pitchFamily="18" charset="0"/>
                <a:cs typeface="Times New Roman" panose="02020603050405020304" pitchFamily="18" charset="0"/>
              </a:rPr>
              <a:t>Separated Peels</a:t>
            </a:r>
            <a:endParaRPr lang="en-US" b="1" dirty="0">
              <a:latin typeface="Times New Roman" panose="02020603050405020304" pitchFamily="18" charset="0"/>
              <a:cs typeface="Times New Roman" panose="02020603050405020304" pitchFamily="18" charset="0"/>
            </a:endParaRPr>
          </a:p>
        </p:txBody>
      </p:sp>
      <p:pic>
        <p:nvPicPr>
          <p:cNvPr id="39" name="Image 22" descr="C:\Users\Aurnob\Pictures\IMG_20230927_120851.jpg">
            <a:extLst>
              <a:ext uri="{FF2B5EF4-FFF2-40B4-BE49-F238E27FC236}">
                <a16:creationId xmlns:a16="http://schemas.microsoft.com/office/drawing/2014/main" id="{26400109-26B1-1146-BA39-9555B4A108BF}"/>
              </a:ext>
            </a:extLst>
          </p:cNvPr>
          <p:cNvPicPr/>
          <p:nvPr/>
        </p:nvPicPr>
        <p:blipFill>
          <a:blip r:embed="rId4" cstate="print"/>
          <a:stretch>
            <a:fillRect/>
          </a:stretch>
        </p:blipFill>
        <p:spPr>
          <a:xfrm>
            <a:off x="1657711" y="4829306"/>
            <a:ext cx="1000072" cy="1302257"/>
          </a:xfrm>
          <a:prstGeom prst="rect">
            <a:avLst/>
          </a:prstGeom>
        </p:spPr>
      </p:pic>
      <p:pic>
        <p:nvPicPr>
          <p:cNvPr id="40" name="Image 17" descr="C:\Users\Aurnob\Pictures\IMG_20231010_193506.jpg">
            <a:extLst>
              <a:ext uri="{FF2B5EF4-FFF2-40B4-BE49-F238E27FC236}">
                <a16:creationId xmlns:a16="http://schemas.microsoft.com/office/drawing/2014/main" id="{8E3DE034-E662-0742-AE7D-6D777494EA10}"/>
              </a:ext>
            </a:extLst>
          </p:cNvPr>
          <p:cNvPicPr/>
          <p:nvPr/>
        </p:nvPicPr>
        <p:blipFill>
          <a:blip r:embed="rId5" cstate="print"/>
          <a:stretch>
            <a:fillRect/>
          </a:stretch>
        </p:blipFill>
        <p:spPr>
          <a:xfrm>
            <a:off x="1213407" y="1751482"/>
            <a:ext cx="1096999" cy="1452718"/>
          </a:xfrm>
          <a:prstGeom prst="rect">
            <a:avLst/>
          </a:prstGeom>
        </p:spPr>
      </p:pic>
      <p:pic>
        <p:nvPicPr>
          <p:cNvPr id="41" name="Image 23" descr="C:\Users\Aurnob\Pictures\IMG_20240107_104929.jpg">
            <a:extLst>
              <a:ext uri="{FF2B5EF4-FFF2-40B4-BE49-F238E27FC236}">
                <a16:creationId xmlns:a16="http://schemas.microsoft.com/office/drawing/2014/main" id="{73D86703-D276-D548-98F1-63DD82D7B286}"/>
              </a:ext>
            </a:extLst>
          </p:cNvPr>
          <p:cNvPicPr/>
          <p:nvPr/>
        </p:nvPicPr>
        <p:blipFill>
          <a:blip r:embed="rId6" cstate="print"/>
          <a:stretch>
            <a:fillRect/>
          </a:stretch>
        </p:blipFill>
        <p:spPr>
          <a:xfrm>
            <a:off x="2885120" y="2755695"/>
            <a:ext cx="906564" cy="1234514"/>
          </a:xfrm>
          <a:prstGeom prst="rect">
            <a:avLst/>
          </a:prstGeom>
        </p:spPr>
      </p:pic>
      <p:pic>
        <p:nvPicPr>
          <p:cNvPr id="42" name="Image 24" descr="C:\Users\Aurnob\Pictures\IMG_20240113_134247.jpg">
            <a:extLst>
              <a:ext uri="{FF2B5EF4-FFF2-40B4-BE49-F238E27FC236}">
                <a16:creationId xmlns:a16="http://schemas.microsoft.com/office/drawing/2014/main" id="{0AE89B1E-7EE0-1B4F-9022-C00AD20CA9F8}"/>
              </a:ext>
            </a:extLst>
          </p:cNvPr>
          <p:cNvPicPr/>
          <p:nvPr/>
        </p:nvPicPr>
        <p:blipFill>
          <a:blip r:embed="rId7" cstate="print"/>
          <a:stretch>
            <a:fillRect/>
          </a:stretch>
        </p:blipFill>
        <p:spPr>
          <a:xfrm>
            <a:off x="4064109" y="1833044"/>
            <a:ext cx="1033441" cy="1354455"/>
          </a:xfrm>
          <a:prstGeom prst="rect">
            <a:avLst/>
          </a:prstGeom>
        </p:spPr>
      </p:pic>
      <p:pic>
        <p:nvPicPr>
          <p:cNvPr id="46" name="Image 25" descr="C:\Users\Aurnob\Pictures\IMG_20240228_114601.jpg">
            <a:extLst>
              <a:ext uri="{FF2B5EF4-FFF2-40B4-BE49-F238E27FC236}">
                <a16:creationId xmlns:a16="http://schemas.microsoft.com/office/drawing/2014/main" id="{A96871C8-BA2A-7B4B-AB61-32CF78F99D38}"/>
              </a:ext>
            </a:extLst>
          </p:cNvPr>
          <p:cNvPicPr/>
          <p:nvPr/>
        </p:nvPicPr>
        <p:blipFill>
          <a:blip r:embed="rId8" cstate="print"/>
          <a:stretch>
            <a:fillRect/>
          </a:stretch>
        </p:blipFill>
        <p:spPr>
          <a:xfrm>
            <a:off x="7528789" y="1875059"/>
            <a:ext cx="1439791" cy="1260829"/>
          </a:xfrm>
          <a:prstGeom prst="rect">
            <a:avLst/>
          </a:prstGeom>
        </p:spPr>
      </p:pic>
      <p:pic>
        <p:nvPicPr>
          <p:cNvPr id="48" name="Image 28" descr="C:\Users\Aurnob\Pictures\IMG_20240227_124823.jpg">
            <a:extLst>
              <a:ext uri="{FF2B5EF4-FFF2-40B4-BE49-F238E27FC236}">
                <a16:creationId xmlns:a16="http://schemas.microsoft.com/office/drawing/2014/main" id="{F93D7FBB-2864-504A-BCF8-0568A3580CCB}"/>
              </a:ext>
            </a:extLst>
          </p:cNvPr>
          <p:cNvPicPr/>
          <p:nvPr/>
        </p:nvPicPr>
        <p:blipFill>
          <a:blip r:embed="rId9" cstate="print"/>
          <a:stretch>
            <a:fillRect/>
          </a:stretch>
        </p:blipFill>
        <p:spPr>
          <a:xfrm>
            <a:off x="8755388" y="3570420"/>
            <a:ext cx="1529063" cy="1158867"/>
          </a:xfrm>
          <a:prstGeom prst="rect">
            <a:avLst/>
          </a:prstGeom>
        </p:spPr>
      </p:pic>
      <p:sp>
        <p:nvSpPr>
          <p:cNvPr id="52" name="TextBox 51">
            <a:extLst>
              <a:ext uri="{FF2B5EF4-FFF2-40B4-BE49-F238E27FC236}">
                <a16:creationId xmlns:a16="http://schemas.microsoft.com/office/drawing/2014/main" id="{711ABF9D-41B0-2742-89BB-059C51175724}"/>
              </a:ext>
            </a:extLst>
          </p:cNvPr>
          <p:cNvSpPr txBox="1"/>
          <p:nvPr/>
        </p:nvSpPr>
        <p:spPr>
          <a:xfrm>
            <a:off x="9115550" y="5095907"/>
            <a:ext cx="903856"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Step 8</a:t>
            </a:r>
          </a:p>
        </p:txBody>
      </p:sp>
      <p:cxnSp>
        <p:nvCxnSpPr>
          <p:cNvPr id="53" name="Elbow Connector 52">
            <a:extLst>
              <a:ext uri="{FF2B5EF4-FFF2-40B4-BE49-F238E27FC236}">
                <a16:creationId xmlns:a16="http://schemas.microsoft.com/office/drawing/2014/main" id="{9FCF5943-C046-E040-A80E-EA46DDDAA083}"/>
              </a:ext>
            </a:extLst>
          </p:cNvPr>
          <p:cNvCxnSpPr>
            <a:cxnSpLocks/>
            <a:endCxn id="10" idx="3"/>
          </p:cNvCxnSpPr>
          <p:nvPr/>
        </p:nvCxnSpPr>
        <p:spPr>
          <a:xfrm rot="5400000">
            <a:off x="9115004" y="4952179"/>
            <a:ext cx="2050414" cy="28847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D5D9CC2B-A93F-2244-BF86-4FEDEC0266F4}"/>
              </a:ext>
            </a:extLst>
          </p:cNvPr>
          <p:cNvSpPr txBox="1"/>
          <p:nvPr/>
        </p:nvSpPr>
        <p:spPr>
          <a:xfrm>
            <a:off x="9961923" y="6194180"/>
            <a:ext cx="1475449" cy="523220"/>
          </a:xfrm>
          <a:prstGeom prst="rect">
            <a:avLst/>
          </a:prstGeom>
          <a:noFill/>
        </p:spPr>
        <p:txBody>
          <a:bodyPr wrap="square" rtlCol="0">
            <a:spAutoFit/>
          </a:bodyPr>
          <a:lstStyle/>
          <a:p>
            <a:r>
              <a:rPr lang="en-US" sz="1400" b="1" dirty="0">
                <a:latin typeface="Times New Roman" panose="02020603050405020304" pitchFamily="18" charset="0"/>
                <a:cs typeface="Times New Roman" panose="02020603050405020304" pitchFamily="18" charset="0"/>
              </a:rPr>
              <a:t>Solvent </a:t>
            </a:r>
          </a:p>
          <a:p>
            <a:r>
              <a:rPr lang="en-US" sz="1400" b="1" dirty="0">
                <a:latin typeface="Times New Roman" panose="02020603050405020304" pitchFamily="18" charset="0"/>
                <a:cs typeface="Times New Roman" panose="02020603050405020304" pitchFamily="18" charset="0"/>
              </a:rPr>
              <a:t>Evaporation</a:t>
            </a:r>
          </a:p>
        </p:txBody>
      </p:sp>
    </p:spTree>
    <p:extLst>
      <p:ext uri="{BB962C8B-B14F-4D97-AF65-F5344CB8AC3E}">
        <p14:creationId xmlns:p14="http://schemas.microsoft.com/office/powerpoint/2010/main" val="3981460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9"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dissolve">
                                      <p:cBhvr>
                                        <p:cTn id="13" dur="500"/>
                                        <p:tgtEl>
                                          <p:spTgt spid="11"/>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dissolve">
                                      <p:cBhvr>
                                        <p:cTn id="16" dur="500"/>
                                        <p:tgtEl>
                                          <p:spTgt spid="12"/>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dissolve">
                                      <p:cBhvr>
                                        <p:cTn id="19" dur="500"/>
                                        <p:tgtEl>
                                          <p:spTgt spid="13"/>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dissolve">
                                      <p:cBhvr>
                                        <p:cTn id="22" dur="500"/>
                                        <p:tgtEl>
                                          <p:spTgt spid="14"/>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dissolve">
                                      <p:cBhvr>
                                        <p:cTn id="25" dur="500"/>
                                        <p:tgtEl>
                                          <p:spTgt spid="15"/>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dissolve">
                                      <p:cBhvr>
                                        <p:cTn id="28" dur="500"/>
                                        <p:tgtEl>
                                          <p:spTgt spid="16"/>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dissolve">
                                      <p:cBhvr>
                                        <p:cTn id="31" dur="500"/>
                                        <p:tgtEl>
                                          <p:spTgt spid="17"/>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dissolve">
                                      <p:cBhvr>
                                        <p:cTn id="34" dur="500"/>
                                        <p:tgtEl>
                                          <p:spTgt spid="18"/>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dissolve">
                                      <p:cBhvr>
                                        <p:cTn id="37" dur="500"/>
                                        <p:tgtEl>
                                          <p:spTgt spid="19"/>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dissolve">
                                      <p:cBhvr>
                                        <p:cTn id="40" dur="500"/>
                                        <p:tgtEl>
                                          <p:spTgt spid="20"/>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dissolve">
                                      <p:cBhvr>
                                        <p:cTn id="43" dur="500"/>
                                        <p:tgtEl>
                                          <p:spTgt spid="21"/>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dissolve">
                                      <p:cBhvr>
                                        <p:cTn id="46" dur="500"/>
                                        <p:tgtEl>
                                          <p:spTgt spid="22"/>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dissolve">
                                      <p:cBhvr>
                                        <p:cTn id="49" dur="500"/>
                                        <p:tgtEl>
                                          <p:spTgt spid="23"/>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dissolve">
                                      <p:cBhvr>
                                        <p:cTn id="52" dur="500"/>
                                        <p:tgtEl>
                                          <p:spTgt spid="24"/>
                                        </p:tgtEl>
                                      </p:cBhvr>
                                    </p:animEffect>
                                  </p:childTnLst>
                                </p:cTn>
                              </p:par>
                              <p:par>
                                <p:cTn id="53" presetID="9" presetClass="entr" presetSubtype="0" fill="hold" nodeType="with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dissolve">
                                      <p:cBhvr>
                                        <p:cTn id="55" dur="500"/>
                                        <p:tgtEl>
                                          <p:spTgt spid="25"/>
                                        </p:tgtEl>
                                      </p:cBhvr>
                                    </p:animEffect>
                                  </p:childTnLst>
                                </p:cTn>
                              </p:par>
                              <p:par>
                                <p:cTn id="56" presetID="9" presetClass="entr" presetSubtype="0" fill="hold" nodeType="with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dissolve">
                                      <p:cBhvr>
                                        <p:cTn id="58" dur="500"/>
                                        <p:tgtEl>
                                          <p:spTgt spid="26"/>
                                        </p:tgtEl>
                                      </p:cBhvr>
                                    </p:animEffect>
                                  </p:childTnLst>
                                </p:cTn>
                              </p:par>
                              <p:par>
                                <p:cTn id="59" presetID="9" presetClass="entr" presetSubtype="0" fill="hold" nodeType="with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dissolve">
                                      <p:cBhvr>
                                        <p:cTn id="61" dur="500"/>
                                        <p:tgtEl>
                                          <p:spTgt spid="27"/>
                                        </p:tgtEl>
                                      </p:cBhvr>
                                    </p:animEffect>
                                  </p:childTnLst>
                                </p:cTn>
                              </p:par>
                              <p:par>
                                <p:cTn id="62" presetID="9" presetClass="entr" presetSubtype="0" fill="hold"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dissolve">
                                      <p:cBhvr>
                                        <p:cTn id="64" dur="500"/>
                                        <p:tgtEl>
                                          <p:spTgt spid="28"/>
                                        </p:tgtEl>
                                      </p:cBhvr>
                                    </p:animEffect>
                                  </p:childTnLst>
                                </p:cTn>
                              </p:par>
                              <p:par>
                                <p:cTn id="65" presetID="9" presetClass="entr" presetSubtype="0" fill="hold"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dissolve">
                                      <p:cBhvr>
                                        <p:cTn id="67" dur="500"/>
                                        <p:tgtEl>
                                          <p:spTgt spid="29"/>
                                        </p:tgtEl>
                                      </p:cBhvr>
                                    </p:animEffect>
                                  </p:childTnLst>
                                </p:cTn>
                              </p:par>
                              <p:par>
                                <p:cTn id="68" presetID="9" presetClass="entr" presetSubtype="0" fill="hold"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dissolve">
                                      <p:cBhvr>
                                        <p:cTn id="70" dur="500"/>
                                        <p:tgtEl>
                                          <p:spTgt spid="30"/>
                                        </p:tgtEl>
                                      </p:cBhvr>
                                    </p:animEffect>
                                  </p:childTnLst>
                                </p:cTn>
                              </p:par>
                              <p:par>
                                <p:cTn id="71" presetID="9" presetClass="entr" presetSubtype="0" fill="hold" nodeType="with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dissolve">
                                      <p:cBhvr>
                                        <p:cTn id="73" dur="500"/>
                                        <p:tgtEl>
                                          <p:spTgt spid="31"/>
                                        </p:tgtEl>
                                      </p:cBhvr>
                                    </p:animEffect>
                                  </p:childTnLst>
                                </p:cTn>
                              </p:par>
                              <p:par>
                                <p:cTn id="74" presetID="9" presetClass="entr" presetSubtype="0" fill="hold" nodeType="with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dissolve">
                                      <p:cBhvr>
                                        <p:cTn id="76" dur="500"/>
                                        <p:tgtEl>
                                          <p:spTgt spid="32"/>
                                        </p:tgtEl>
                                      </p:cBhvr>
                                    </p:animEffect>
                                  </p:childTnLst>
                                </p:cTn>
                              </p:par>
                              <p:par>
                                <p:cTn id="77" presetID="9" presetClass="entr" presetSubtype="0" fill="hold" nodeType="withEffect">
                                  <p:stCondLst>
                                    <p:cond delay="0"/>
                                  </p:stCondLst>
                                  <p:childTnLst>
                                    <p:set>
                                      <p:cBhvr>
                                        <p:cTn id="78" dur="1" fill="hold">
                                          <p:stCondLst>
                                            <p:cond delay="0"/>
                                          </p:stCondLst>
                                        </p:cTn>
                                        <p:tgtEl>
                                          <p:spTgt spid="34"/>
                                        </p:tgtEl>
                                        <p:attrNameLst>
                                          <p:attrName>style.visibility</p:attrName>
                                        </p:attrNameLst>
                                      </p:cBhvr>
                                      <p:to>
                                        <p:strVal val="visible"/>
                                      </p:to>
                                    </p:set>
                                    <p:animEffect transition="in" filter="dissolve">
                                      <p:cBhvr>
                                        <p:cTn id="79" dur="500"/>
                                        <p:tgtEl>
                                          <p:spTgt spid="34"/>
                                        </p:tgtEl>
                                      </p:cBhvr>
                                    </p:animEffect>
                                  </p:childTnLst>
                                </p:cTn>
                              </p:par>
                              <p:par>
                                <p:cTn id="80" presetID="9" presetClass="entr" presetSubtype="0" fill="hold" grpId="0" nodeType="withEffect">
                                  <p:stCondLst>
                                    <p:cond delay="0"/>
                                  </p:stCondLst>
                                  <p:childTnLst>
                                    <p:set>
                                      <p:cBhvr>
                                        <p:cTn id="81" dur="1" fill="hold">
                                          <p:stCondLst>
                                            <p:cond delay="0"/>
                                          </p:stCondLst>
                                        </p:cTn>
                                        <p:tgtEl>
                                          <p:spTgt spid="35"/>
                                        </p:tgtEl>
                                        <p:attrNameLst>
                                          <p:attrName>style.visibility</p:attrName>
                                        </p:attrNameLst>
                                      </p:cBhvr>
                                      <p:to>
                                        <p:strVal val="visible"/>
                                      </p:to>
                                    </p:set>
                                    <p:animEffect transition="in" filter="dissolve">
                                      <p:cBhvr>
                                        <p:cTn id="82" dur="500"/>
                                        <p:tgtEl>
                                          <p:spTgt spid="35"/>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36"/>
                                        </p:tgtEl>
                                        <p:attrNameLst>
                                          <p:attrName>style.visibility</p:attrName>
                                        </p:attrNameLst>
                                      </p:cBhvr>
                                      <p:to>
                                        <p:strVal val="visible"/>
                                      </p:to>
                                    </p:set>
                                    <p:animEffect transition="in" filter="dissolve">
                                      <p:cBhvr>
                                        <p:cTn id="85" dur="500"/>
                                        <p:tgtEl>
                                          <p:spTgt spid="36"/>
                                        </p:tgtEl>
                                      </p:cBhvr>
                                    </p:animEffect>
                                  </p:childTnLst>
                                </p:cTn>
                              </p:par>
                              <p:par>
                                <p:cTn id="86" presetID="9" presetClass="entr" presetSubtype="0" fill="hold" nodeType="withEffect">
                                  <p:stCondLst>
                                    <p:cond delay="0"/>
                                  </p:stCondLst>
                                  <p:childTnLst>
                                    <p:set>
                                      <p:cBhvr>
                                        <p:cTn id="87" dur="1" fill="hold">
                                          <p:stCondLst>
                                            <p:cond delay="0"/>
                                          </p:stCondLst>
                                        </p:cTn>
                                        <p:tgtEl>
                                          <p:spTgt spid="39"/>
                                        </p:tgtEl>
                                        <p:attrNameLst>
                                          <p:attrName>style.visibility</p:attrName>
                                        </p:attrNameLst>
                                      </p:cBhvr>
                                      <p:to>
                                        <p:strVal val="visible"/>
                                      </p:to>
                                    </p:set>
                                    <p:animEffect transition="in" filter="dissolve">
                                      <p:cBhvr>
                                        <p:cTn id="88" dur="500"/>
                                        <p:tgtEl>
                                          <p:spTgt spid="39"/>
                                        </p:tgtEl>
                                      </p:cBhvr>
                                    </p:animEffect>
                                  </p:childTnLst>
                                </p:cTn>
                              </p:par>
                              <p:par>
                                <p:cTn id="89" presetID="9" presetClass="entr" presetSubtype="0" fill="hold" nodeType="withEffect">
                                  <p:stCondLst>
                                    <p:cond delay="0"/>
                                  </p:stCondLst>
                                  <p:childTnLst>
                                    <p:set>
                                      <p:cBhvr>
                                        <p:cTn id="90" dur="1" fill="hold">
                                          <p:stCondLst>
                                            <p:cond delay="0"/>
                                          </p:stCondLst>
                                        </p:cTn>
                                        <p:tgtEl>
                                          <p:spTgt spid="40"/>
                                        </p:tgtEl>
                                        <p:attrNameLst>
                                          <p:attrName>style.visibility</p:attrName>
                                        </p:attrNameLst>
                                      </p:cBhvr>
                                      <p:to>
                                        <p:strVal val="visible"/>
                                      </p:to>
                                    </p:set>
                                    <p:animEffect transition="in" filter="dissolve">
                                      <p:cBhvr>
                                        <p:cTn id="91" dur="500"/>
                                        <p:tgtEl>
                                          <p:spTgt spid="40"/>
                                        </p:tgtEl>
                                      </p:cBhvr>
                                    </p:animEffect>
                                  </p:childTnLst>
                                </p:cTn>
                              </p:par>
                              <p:par>
                                <p:cTn id="92" presetID="9" presetClass="entr" presetSubtype="0" fill="hold" nodeType="withEffect">
                                  <p:stCondLst>
                                    <p:cond delay="0"/>
                                  </p:stCondLst>
                                  <p:childTnLst>
                                    <p:set>
                                      <p:cBhvr>
                                        <p:cTn id="93" dur="1" fill="hold">
                                          <p:stCondLst>
                                            <p:cond delay="0"/>
                                          </p:stCondLst>
                                        </p:cTn>
                                        <p:tgtEl>
                                          <p:spTgt spid="41"/>
                                        </p:tgtEl>
                                        <p:attrNameLst>
                                          <p:attrName>style.visibility</p:attrName>
                                        </p:attrNameLst>
                                      </p:cBhvr>
                                      <p:to>
                                        <p:strVal val="visible"/>
                                      </p:to>
                                    </p:set>
                                    <p:animEffect transition="in" filter="dissolve">
                                      <p:cBhvr>
                                        <p:cTn id="94" dur="500"/>
                                        <p:tgtEl>
                                          <p:spTgt spid="41"/>
                                        </p:tgtEl>
                                      </p:cBhvr>
                                    </p:animEffect>
                                  </p:childTnLst>
                                </p:cTn>
                              </p:par>
                              <p:par>
                                <p:cTn id="95" presetID="9" presetClass="entr" presetSubtype="0" fill="hold" nodeType="withEffect">
                                  <p:stCondLst>
                                    <p:cond delay="0"/>
                                  </p:stCondLst>
                                  <p:childTnLst>
                                    <p:set>
                                      <p:cBhvr>
                                        <p:cTn id="96" dur="1" fill="hold">
                                          <p:stCondLst>
                                            <p:cond delay="0"/>
                                          </p:stCondLst>
                                        </p:cTn>
                                        <p:tgtEl>
                                          <p:spTgt spid="42"/>
                                        </p:tgtEl>
                                        <p:attrNameLst>
                                          <p:attrName>style.visibility</p:attrName>
                                        </p:attrNameLst>
                                      </p:cBhvr>
                                      <p:to>
                                        <p:strVal val="visible"/>
                                      </p:to>
                                    </p:set>
                                    <p:animEffect transition="in" filter="dissolve">
                                      <p:cBhvr>
                                        <p:cTn id="97" dur="500"/>
                                        <p:tgtEl>
                                          <p:spTgt spid="42"/>
                                        </p:tgtEl>
                                      </p:cBhvr>
                                    </p:animEffect>
                                  </p:childTnLst>
                                </p:cTn>
                              </p:par>
                              <p:par>
                                <p:cTn id="98" presetID="9" presetClass="entr" presetSubtype="0" fill="hold" nodeType="withEffect">
                                  <p:stCondLst>
                                    <p:cond delay="0"/>
                                  </p:stCondLst>
                                  <p:childTnLst>
                                    <p:set>
                                      <p:cBhvr>
                                        <p:cTn id="99" dur="1" fill="hold">
                                          <p:stCondLst>
                                            <p:cond delay="0"/>
                                          </p:stCondLst>
                                        </p:cTn>
                                        <p:tgtEl>
                                          <p:spTgt spid="46"/>
                                        </p:tgtEl>
                                        <p:attrNameLst>
                                          <p:attrName>style.visibility</p:attrName>
                                        </p:attrNameLst>
                                      </p:cBhvr>
                                      <p:to>
                                        <p:strVal val="visible"/>
                                      </p:to>
                                    </p:set>
                                    <p:animEffect transition="in" filter="dissolve">
                                      <p:cBhvr>
                                        <p:cTn id="100" dur="500"/>
                                        <p:tgtEl>
                                          <p:spTgt spid="46"/>
                                        </p:tgtEl>
                                      </p:cBhvr>
                                    </p:animEffect>
                                  </p:childTnLst>
                                </p:cTn>
                              </p:par>
                              <p:par>
                                <p:cTn id="101" presetID="9" presetClass="entr" presetSubtype="0" fill="hold" nodeType="withEffect">
                                  <p:stCondLst>
                                    <p:cond delay="0"/>
                                  </p:stCondLst>
                                  <p:childTnLst>
                                    <p:set>
                                      <p:cBhvr>
                                        <p:cTn id="102" dur="1" fill="hold">
                                          <p:stCondLst>
                                            <p:cond delay="0"/>
                                          </p:stCondLst>
                                        </p:cTn>
                                        <p:tgtEl>
                                          <p:spTgt spid="48"/>
                                        </p:tgtEl>
                                        <p:attrNameLst>
                                          <p:attrName>style.visibility</p:attrName>
                                        </p:attrNameLst>
                                      </p:cBhvr>
                                      <p:to>
                                        <p:strVal val="visible"/>
                                      </p:to>
                                    </p:set>
                                    <p:animEffect transition="in" filter="dissolve">
                                      <p:cBhvr>
                                        <p:cTn id="103" dur="500"/>
                                        <p:tgtEl>
                                          <p:spTgt spid="48"/>
                                        </p:tgtEl>
                                      </p:cBhvr>
                                    </p:animEffect>
                                  </p:childTnLst>
                                </p:cTn>
                              </p:par>
                              <p:par>
                                <p:cTn id="104" presetID="9" presetClass="entr" presetSubtype="0" fill="hold" grpId="0" nodeType="withEffect">
                                  <p:stCondLst>
                                    <p:cond delay="0"/>
                                  </p:stCondLst>
                                  <p:childTnLst>
                                    <p:set>
                                      <p:cBhvr>
                                        <p:cTn id="105" dur="1" fill="hold">
                                          <p:stCondLst>
                                            <p:cond delay="0"/>
                                          </p:stCondLst>
                                        </p:cTn>
                                        <p:tgtEl>
                                          <p:spTgt spid="52"/>
                                        </p:tgtEl>
                                        <p:attrNameLst>
                                          <p:attrName>style.visibility</p:attrName>
                                        </p:attrNameLst>
                                      </p:cBhvr>
                                      <p:to>
                                        <p:strVal val="visible"/>
                                      </p:to>
                                    </p:set>
                                    <p:animEffect transition="in" filter="dissolve">
                                      <p:cBhvr>
                                        <p:cTn id="106" dur="500"/>
                                        <p:tgtEl>
                                          <p:spTgt spid="52"/>
                                        </p:tgtEl>
                                      </p:cBhvr>
                                    </p:animEffect>
                                  </p:childTnLst>
                                </p:cTn>
                              </p:par>
                              <p:par>
                                <p:cTn id="107" presetID="9" presetClass="entr" presetSubtype="0" fill="hold" nodeType="withEffect">
                                  <p:stCondLst>
                                    <p:cond delay="0"/>
                                  </p:stCondLst>
                                  <p:childTnLst>
                                    <p:set>
                                      <p:cBhvr>
                                        <p:cTn id="108" dur="1" fill="hold">
                                          <p:stCondLst>
                                            <p:cond delay="0"/>
                                          </p:stCondLst>
                                        </p:cTn>
                                        <p:tgtEl>
                                          <p:spTgt spid="53"/>
                                        </p:tgtEl>
                                        <p:attrNameLst>
                                          <p:attrName>style.visibility</p:attrName>
                                        </p:attrNameLst>
                                      </p:cBhvr>
                                      <p:to>
                                        <p:strVal val="visible"/>
                                      </p:to>
                                    </p:set>
                                    <p:animEffect transition="in" filter="dissolve">
                                      <p:cBhvr>
                                        <p:cTn id="109" dur="500"/>
                                        <p:tgtEl>
                                          <p:spTgt spid="53"/>
                                        </p:tgtEl>
                                      </p:cBhvr>
                                    </p:animEffect>
                                  </p:childTnLst>
                                </p:cTn>
                              </p:par>
                              <p:par>
                                <p:cTn id="110" presetID="9" presetClass="entr" presetSubtype="0" fill="hold" grpId="0" nodeType="withEffect">
                                  <p:stCondLst>
                                    <p:cond delay="0"/>
                                  </p:stCondLst>
                                  <p:childTnLst>
                                    <p:set>
                                      <p:cBhvr>
                                        <p:cTn id="111" dur="1" fill="hold">
                                          <p:stCondLst>
                                            <p:cond delay="0"/>
                                          </p:stCondLst>
                                        </p:cTn>
                                        <p:tgtEl>
                                          <p:spTgt spid="59"/>
                                        </p:tgtEl>
                                        <p:attrNameLst>
                                          <p:attrName>style.visibility</p:attrName>
                                        </p:attrNameLst>
                                      </p:cBhvr>
                                      <p:to>
                                        <p:strVal val="visible"/>
                                      </p:to>
                                    </p:set>
                                    <p:animEffect transition="in" filter="dissolve">
                                      <p:cBhvr>
                                        <p:cTn id="112"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P spid="12" grpId="0"/>
      <p:bldP spid="13" grpId="0"/>
      <p:bldP spid="14" grpId="0"/>
      <p:bldP spid="15" grpId="0"/>
      <p:bldP spid="16" grpId="0"/>
      <p:bldP spid="17" grpId="0"/>
      <p:bldP spid="18" grpId="0"/>
      <p:bldP spid="19" grpId="0"/>
      <p:bldP spid="20" grpId="0"/>
      <p:bldP spid="21" grpId="0" animBg="1"/>
      <p:bldP spid="22" grpId="0"/>
      <p:bldP spid="23" grpId="0"/>
      <p:bldP spid="24" grpId="0"/>
      <p:bldP spid="35" grpId="0"/>
      <p:bldP spid="36" grpId="0"/>
      <p:bldP spid="52" grpId="0"/>
      <p:bldP spid="5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4ED5FB-3EF9-8941-8362-6F63FBF77874}"/>
              </a:ext>
            </a:extLst>
          </p:cNvPr>
          <p:cNvSpPr>
            <a:spLocks noGrp="1"/>
          </p:cNvSpPr>
          <p:nvPr>
            <p:ph idx="1"/>
          </p:nvPr>
        </p:nvSpPr>
        <p:spPr>
          <a:xfrm>
            <a:off x="838200" y="1690688"/>
            <a:ext cx="10515600" cy="4351338"/>
          </a:xfrm>
        </p:spPr>
        <p:txBody>
          <a:bodyPr>
            <a:normAutofit/>
          </a:bodyPr>
          <a:lstStyle/>
          <a:p>
            <a:pPr marL="0" indent="0" algn="ctr">
              <a:buNone/>
            </a:pPr>
            <a:r>
              <a:rPr lang="en-US" b="1" dirty="0">
                <a:latin typeface="Times New Roman" panose="02020603050405020304" pitchFamily="18" charset="0"/>
                <a:cs typeface="Times New Roman" panose="02020603050405020304" pitchFamily="18" charset="0"/>
              </a:rPr>
              <a:t>Test Name: Antioxidant Activity Test</a:t>
            </a:r>
          </a:p>
          <a:p>
            <a:r>
              <a:rPr lang="en-US" sz="2400" b="1" dirty="0">
                <a:solidFill>
                  <a:schemeClr val="accent6">
                    <a:lumMod val="50000"/>
                  </a:schemeClr>
                </a:solidFill>
                <a:latin typeface="Times New Roman" panose="02020603050405020304" pitchFamily="18" charset="0"/>
                <a:cs typeface="Times New Roman" panose="02020603050405020304" pitchFamily="18" charset="0"/>
              </a:rPr>
              <a:t>Method 1 : </a:t>
            </a:r>
            <a:r>
              <a:rPr lang="en-US" sz="2400" dirty="0">
                <a:latin typeface="Times New Roman" panose="02020603050405020304" pitchFamily="18" charset="0"/>
                <a:cs typeface="Times New Roman" panose="02020603050405020304" pitchFamily="18" charset="0"/>
              </a:rPr>
              <a:t>DPPH(2,2-diphenyl-1-picrylhydrazyl ) free radical scavenging assay</a:t>
            </a:r>
          </a:p>
          <a:p>
            <a:pPr marL="0" indent="0">
              <a:buNone/>
            </a:pPr>
            <a:r>
              <a:rPr lang="en-US" sz="2400" dirty="0">
                <a:latin typeface="Times New Roman" panose="02020603050405020304" pitchFamily="18" charset="0"/>
                <a:cs typeface="Times New Roman" panose="02020603050405020304" pitchFamily="18" charset="0"/>
              </a:rPr>
              <a:t>   </a:t>
            </a:r>
            <a:r>
              <a:rPr lang="en-US" sz="2400" b="1" dirty="0">
                <a:solidFill>
                  <a:schemeClr val="accent6">
                    <a:lumMod val="50000"/>
                  </a:schemeClr>
                </a:solidFill>
                <a:latin typeface="Times New Roman" panose="02020603050405020304" pitchFamily="18" charset="0"/>
                <a:cs typeface="Times New Roman" panose="02020603050405020304" pitchFamily="18" charset="0"/>
              </a:rPr>
              <a:t>Materials of Method 1: </a:t>
            </a:r>
          </a:p>
          <a:p>
            <a:pPr marL="0" indent="0">
              <a:buNone/>
            </a:pPr>
            <a:r>
              <a:rPr lang="en-US" sz="2400" dirty="0">
                <a:latin typeface="Times New Roman" panose="02020603050405020304" pitchFamily="18" charset="0"/>
                <a:cs typeface="Times New Roman" panose="02020603050405020304" pitchFamily="18" charset="0"/>
              </a:rPr>
              <a:t>    </a:t>
            </a:r>
          </a:p>
          <a:p>
            <a:pPr marL="0" indent="0">
              <a:buNone/>
            </a:pPr>
            <a:endParaRPr lang="en-US" dirty="0">
              <a:latin typeface="Times New Roman" panose="02020603050405020304" pitchFamily="18" charset="0"/>
              <a:cs typeface="Times New Roman" panose="02020603050405020304" pitchFamily="18" charset="0"/>
            </a:endParaRPr>
          </a:p>
          <a:p>
            <a:endParaRPr lang="en-US" dirty="0"/>
          </a:p>
        </p:txBody>
      </p:sp>
      <p:sp>
        <p:nvSpPr>
          <p:cNvPr id="4" name="Title 1">
            <a:extLst>
              <a:ext uri="{FF2B5EF4-FFF2-40B4-BE49-F238E27FC236}">
                <a16:creationId xmlns:a16="http://schemas.microsoft.com/office/drawing/2014/main" id="{49B106AA-CCDD-464D-BD90-DCEC678D757D}"/>
              </a:ext>
            </a:extLst>
          </p:cNvPr>
          <p:cNvSpPr>
            <a:spLocks noGrp="1"/>
          </p:cNvSpPr>
          <p:nvPr>
            <p:ph type="title"/>
          </p:nvPr>
        </p:nvSpPr>
        <p:spPr/>
        <p:txBody>
          <a:bodyPr/>
          <a:lstStyle/>
          <a:p>
            <a:r>
              <a:rPr lang="en-US" b="1" dirty="0">
                <a:solidFill>
                  <a:schemeClr val="accent6">
                    <a:lumMod val="50000"/>
                  </a:schemeClr>
                </a:solidFill>
                <a:latin typeface="Times New Roman" panose="02020603050405020304" pitchFamily="18" charset="0"/>
                <a:cs typeface="Times New Roman" panose="02020603050405020304" pitchFamily="18" charset="0"/>
              </a:rPr>
              <a:t>Materials and Methods</a:t>
            </a:r>
          </a:p>
        </p:txBody>
      </p:sp>
      <p:sp>
        <p:nvSpPr>
          <p:cNvPr id="5" name="TextBox 4">
            <a:extLst>
              <a:ext uri="{FF2B5EF4-FFF2-40B4-BE49-F238E27FC236}">
                <a16:creationId xmlns:a16="http://schemas.microsoft.com/office/drawing/2014/main" id="{3F66C41A-71B1-F044-AFF9-C81A649ACDD3}"/>
              </a:ext>
            </a:extLst>
          </p:cNvPr>
          <p:cNvSpPr txBox="1"/>
          <p:nvPr/>
        </p:nvSpPr>
        <p:spPr>
          <a:xfrm>
            <a:off x="2751827" y="3183147"/>
            <a:ext cx="3821501" cy="3416320"/>
          </a:xfrm>
          <a:prstGeom prst="rect">
            <a:avLst/>
          </a:prstGeom>
          <a:noFill/>
        </p:spPr>
        <p:txBody>
          <a:bodyPr wrap="square" rtlCol="0">
            <a:spAutoFit/>
          </a:bodyPr>
          <a:lstStyle/>
          <a:p>
            <a:r>
              <a:rPr lang="en-US" sz="2400" b="1" dirty="0" err="1">
                <a:latin typeface="Times New Roman" panose="02020603050405020304" pitchFamily="18" charset="0"/>
                <a:cs typeface="Times New Roman" panose="02020603050405020304" pitchFamily="18" charset="0"/>
              </a:rPr>
              <a:t>Appratus</a:t>
            </a:r>
            <a:r>
              <a:rPr lang="en-US" sz="2400" b="1"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 Test tubes</a:t>
            </a:r>
          </a:p>
          <a:p>
            <a:r>
              <a:rPr lang="en-US" sz="2400" dirty="0">
                <a:latin typeface="Times New Roman" panose="02020603050405020304" pitchFamily="18" charset="0"/>
                <a:cs typeface="Times New Roman" panose="02020603050405020304" pitchFamily="18" charset="0"/>
              </a:rPr>
              <a:t>• Beakers</a:t>
            </a:r>
          </a:p>
          <a:p>
            <a:r>
              <a:rPr lang="en-US" sz="2400" dirty="0">
                <a:latin typeface="Times New Roman" panose="02020603050405020304" pitchFamily="18" charset="0"/>
                <a:cs typeface="Times New Roman" panose="02020603050405020304" pitchFamily="18" charset="0"/>
              </a:rPr>
              <a:t>• Micro – pipette</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Sonicator</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Pipette</a:t>
            </a:r>
          </a:p>
          <a:p>
            <a:r>
              <a:rPr lang="en-US" sz="2400" dirty="0">
                <a:latin typeface="Times New Roman" panose="02020603050405020304" pitchFamily="18" charset="0"/>
                <a:cs typeface="Times New Roman" panose="02020603050405020304" pitchFamily="18" charset="0"/>
              </a:rPr>
              <a:t>• Conical Flask</a:t>
            </a:r>
          </a:p>
          <a:p>
            <a:r>
              <a:rPr lang="en-US" sz="2400" dirty="0">
                <a:latin typeface="Times New Roman" panose="02020603050405020304" pitchFamily="18" charset="0"/>
                <a:cs typeface="Times New Roman" panose="02020603050405020304" pitchFamily="18" charset="0"/>
              </a:rPr>
              <a:t>• UV Spectrophotometer</a:t>
            </a:r>
          </a:p>
          <a:p>
            <a:r>
              <a:rPr lang="en-US" sz="2400" dirty="0">
                <a:latin typeface="Times New Roman" panose="02020603050405020304" pitchFamily="18" charset="0"/>
                <a:cs typeface="Times New Roman" panose="02020603050405020304" pitchFamily="18" charset="0"/>
              </a:rPr>
              <a:t>• Electronic Balance</a:t>
            </a:r>
          </a:p>
        </p:txBody>
      </p:sp>
      <p:sp>
        <p:nvSpPr>
          <p:cNvPr id="6" name="TextBox 5">
            <a:extLst>
              <a:ext uri="{FF2B5EF4-FFF2-40B4-BE49-F238E27FC236}">
                <a16:creationId xmlns:a16="http://schemas.microsoft.com/office/drawing/2014/main" id="{B2037A3F-0C7F-EC4C-BAB6-33FE561C1FF0}"/>
              </a:ext>
            </a:extLst>
          </p:cNvPr>
          <p:cNvSpPr txBox="1"/>
          <p:nvPr/>
        </p:nvSpPr>
        <p:spPr>
          <a:xfrm>
            <a:off x="6251276" y="3243532"/>
            <a:ext cx="4712897" cy="1846659"/>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Reagents</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DPPH</a:t>
            </a:r>
          </a:p>
          <a:p>
            <a:r>
              <a:rPr lang="en-US" sz="2400" dirty="0">
                <a:latin typeface="Times New Roman" panose="02020603050405020304" pitchFamily="18" charset="0"/>
                <a:cs typeface="Times New Roman" panose="02020603050405020304" pitchFamily="18" charset="0"/>
              </a:rPr>
              <a:t>• Methanol</a:t>
            </a:r>
          </a:p>
          <a:p>
            <a:r>
              <a:rPr lang="en-US" sz="2400" dirty="0">
                <a:latin typeface="Times New Roman" panose="02020603050405020304" pitchFamily="18" charset="0"/>
                <a:cs typeface="Times New Roman" panose="02020603050405020304" pitchFamily="18" charset="0"/>
              </a:rPr>
              <a:t>• Ascorbic acid (as positive control)</a:t>
            </a:r>
          </a:p>
          <a:p>
            <a:endParaRPr lang="en-US" dirty="0"/>
          </a:p>
        </p:txBody>
      </p:sp>
    </p:spTree>
    <p:extLst>
      <p:ext uri="{BB962C8B-B14F-4D97-AF65-F5344CB8AC3E}">
        <p14:creationId xmlns:p14="http://schemas.microsoft.com/office/powerpoint/2010/main" val="3935788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4ED5FB-3EF9-8941-8362-6F63FBF77874}"/>
              </a:ext>
            </a:extLst>
          </p:cNvPr>
          <p:cNvSpPr>
            <a:spLocks noGrp="1"/>
          </p:cNvSpPr>
          <p:nvPr>
            <p:ph idx="1"/>
          </p:nvPr>
        </p:nvSpPr>
        <p:spPr>
          <a:xfrm>
            <a:off x="760562" y="1325563"/>
            <a:ext cx="10515600" cy="4351338"/>
          </a:xfrm>
        </p:spPr>
        <p:txBody>
          <a:bodyPr>
            <a:normAutofit/>
          </a:bodyPr>
          <a:lstStyle/>
          <a:p>
            <a:pPr marL="0" indent="0" algn="ctr">
              <a:buNone/>
            </a:pPr>
            <a:r>
              <a:rPr lang="en-US" b="1" dirty="0">
                <a:latin typeface="Times New Roman" panose="02020603050405020304" pitchFamily="18" charset="0"/>
                <a:cs typeface="Times New Roman" panose="02020603050405020304" pitchFamily="18" charset="0"/>
              </a:rPr>
              <a:t>Test Name: Antioxidant Activity Test</a:t>
            </a:r>
          </a:p>
          <a:p>
            <a:r>
              <a:rPr lang="en-US" sz="2400" b="1" dirty="0">
                <a:solidFill>
                  <a:schemeClr val="accent6">
                    <a:lumMod val="50000"/>
                  </a:schemeClr>
                </a:solidFill>
                <a:latin typeface="Times New Roman" panose="02020603050405020304" pitchFamily="18" charset="0"/>
                <a:cs typeface="Times New Roman" panose="02020603050405020304" pitchFamily="18" charset="0"/>
              </a:rPr>
              <a:t>Method 2 : </a:t>
            </a:r>
            <a:r>
              <a:rPr lang="en-US" sz="2400" dirty="0">
                <a:latin typeface="Times New Roman" panose="02020603050405020304" pitchFamily="18" charset="0"/>
                <a:cs typeface="Times New Roman" panose="02020603050405020304" pitchFamily="18" charset="0"/>
              </a:rPr>
              <a:t>ABTS(2,2-azino-bis-3-ethylbenzothiazoline-6-sulphonic acid) free radical scavenging assay</a:t>
            </a:r>
          </a:p>
          <a:p>
            <a:pPr marL="0" indent="0">
              <a:buNone/>
            </a:pPr>
            <a:r>
              <a:rPr lang="en-US" sz="2400" dirty="0">
                <a:latin typeface="Times New Roman" panose="02020603050405020304" pitchFamily="18" charset="0"/>
                <a:cs typeface="Times New Roman" panose="02020603050405020304" pitchFamily="18" charset="0"/>
              </a:rPr>
              <a:t>   </a:t>
            </a:r>
            <a:r>
              <a:rPr lang="en-US" sz="2400" b="1" dirty="0">
                <a:solidFill>
                  <a:schemeClr val="accent6">
                    <a:lumMod val="50000"/>
                  </a:schemeClr>
                </a:solidFill>
                <a:latin typeface="Times New Roman" panose="02020603050405020304" pitchFamily="18" charset="0"/>
                <a:cs typeface="Times New Roman" panose="02020603050405020304" pitchFamily="18" charset="0"/>
              </a:rPr>
              <a:t>Materials of Method 2: </a:t>
            </a:r>
          </a:p>
          <a:p>
            <a:pPr marL="0" indent="0">
              <a:buNone/>
            </a:pPr>
            <a:r>
              <a:rPr lang="en-US" sz="2400" dirty="0">
                <a:latin typeface="Times New Roman" panose="02020603050405020304" pitchFamily="18" charset="0"/>
                <a:cs typeface="Times New Roman" panose="02020603050405020304" pitchFamily="18" charset="0"/>
              </a:rPr>
              <a:t>    </a:t>
            </a:r>
          </a:p>
          <a:p>
            <a:pPr marL="0" indent="0">
              <a:buNone/>
            </a:pPr>
            <a:endParaRPr lang="en-US" dirty="0">
              <a:latin typeface="Times New Roman" panose="02020603050405020304" pitchFamily="18" charset="0"/>
              <a:cs typeface="Times New Roman" panose="02020603050405020304" pitchFamily="18" charset="0"/>
            </a:endParaRPr>
          </a:p>
          <a:p>
            <a:endParaRPr lang="en-US" dirty="0"/>
          </a:p>
        </p:txBody>
      </p:sp>
      <p:sp>
        <p:nvSpPr>
          <p:cNvPr id="4" name="Title 1">
            <a:extLst>
              <a:ext uri="{FF2B5EF4-FFF2-40B4-BE49-F238E27FC236}">
                <a16:creationId xmlns:a16="http://schemas.microsoft.com/office/drawing/2014/main" id="{49B106AA-CCDD-464D-BD90-DCEC678D757D}"/>
              </a:ext>
            </a:extLst>
          </p:cNvPr>
          <p:cNvSpPr>
            <a:spLocks noGrp="1"/>
          </p:cNvSpPr>
          <p:nvPr>
            <p:ph type="title"/>
          </p:nvPr>
        </p:nvSpPr>
        <p:spPr>
          <a:xfrm>
            <a:off x="760562" y="505912"/>
            <a:ext cx="1416108" cy="779566"/>
          </a:xfrm>
        </p:spPr>
        <p:txBody>
          <a:bodyPr>
            <a:normAutofit/>
          </a:bodyPr>
          <a:lstStyle/>
          <a:p>
            <a:r>
              <a:rPr lang="en-US" sz="2400" b="1" dirty="0">
                <a:solidFill>
                  <a:schemeClr val="accent6">
                    <a:lumMod val="50000"/>
                  </a:schemeClr>
                </a:solidFill>
                <a:latin typeface="Times New Roman" panose="02020603050405020304" pitchFamily="18" charset="0"/>
                <a:cs typeface="Times New Roman" panose="02020603050405020304" pitchFamily="18" charset="0"/>
              </a:rPr>
              <a:t>Continue</a:t>
            </a:r>
          </a:p>
        </p:txBody>
      </p:sp>
      <p:sp>
        <p:nvSpPr>
          <p:cNvPr id="5" name="TextBox 4">
            <a:extLst>
              <a:ext uri="{FF2B5EF4-FFF2-40B4-BE49-F238E27FC236}">
                <a16:creationId xmlns:a16="http://schemas.microsoft.com/office/drawing/2014/main" id="{3F66C41A-71B1-F044-AFF9-C81A649ACDD3}"/>
              </a:ext>
            </a:extLst>
          </p:cNvPr>
          <p:cNvSpPr txBox="1"/>
          <p:nvPr/>
        </p:nvSpPr>
        <p:spPr>
          <a:xfrm>
            <a:off x="2674189" y="2940615"/>
            <a:ext cx="3821501" cy="3785652"/>
          </a:xfrm>
          <a:prstGeom prst="rect">
            <a:avLst/>
          </a:prstGeom>
          <a:noFill/>
        </p:spPr>
        <p:txBody>
          <a:bodyPr wrap="square" rtlCol="0">
            <a:spAutoFit/>
          </a:bodyPr>
          <a:lstStyle/>
          <a:p>
            <a:r>
              <a:rPr lang="en-US" sz="2400" b="1" dirty="0" err="1">
                <a:latin typeface="Times New Roman" panose="02020603050405020304" pitchFamily="18" charset="0"/>
                <a:cs typeface="Times New Roman" panose="02020603050405020304" pitchFamily="18" charset="0"/>
              </a:rPr>
              <a:t>Appratus</a:t>
            </a:r>
            <a:r>
              <a:rPr lang="en-US" sz="2400" b="1"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 Test tubes</a:t>
            </a:r>
          </a:p>
          <a:p>
            <a:r>
              <a:rPr lang="en-US" sz="2400" dirty="0">
                <a:latin typeface="Times New Roman" panose="02020603050405020304" pitchFamily="18" charset="0"/>
                <a:cs typeface="Times New Roman" panose="02020603050405020304" pitchFamily="18" charset="0"/>
              </a:rPr>
              <a:t>• Beakers</a:t>
            </a:r>
          </a:p>
          <a:p>
            <a:r>
              <a:rPr lang="en-US" sz="2400" dirty="0">
                <a:latin typeface="Times New Roman" panose="02020603050405020304" pitchFamily="18" charset="0"/>
                <a:cs typeface="Times New Roman" panose="02020603050405020304" pitchFamily="18" charset="0"/>
              </a:rPr>
              <a:t>• Micro – pipette</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Sonicator</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Pipette</a:t>
            </a:r>
          </a:p>
          <a:p>
            <a:r>
              <a:rPr lang="en-US" sz="2400" dirty="0">
                <a:latin typeface="Times New Roman" panose="02020603050405020304" pitchFamily="18" charset="0"/>
                <a:cs typeface="Times New Roman" panose="02020603050405020304" pitchFamily="18" charset="0"/>
              </a:rPr>
              <a:t>• Pipette filler</a:t>
            </a:r>
          </a:p>
          <a:p>
            <a:r>
              <a:rPr lang="en-US" sz="2400" dirty="0">
                <a:latin typeface="Times New Roman" panose="02020603050405020304" pitchFamily="18" charset="0"/>
                <a:cs typeface="Times New Roman" panose="02020603050405020304" pitchFamily="18" charset="0"/>
              </a:rPr>
              <a:t>• Conical Flask</a:t>
            </a:r>
          </a:p>
          <a:p>
            <a:r>
              <a:rPr lang="en-US" sz="2400" dirty="0">
                <a:latin typeface="Times New Roman" panose="02020603050405020304" pitchFamily="18" charset="0"/>
                <a:cs typeface="Times New Roman" panose="02020603050405020304" pitchFamily="18" charset="0"/>
              </a:rPr>
              <a:t>• UV Spectrophotometer</a:t>
            </a:r>
          </a:p>
          <a:p>
            <a:r>
              <a:rPr lang="en-US" sz="2400" dirty="0">
                <a:latin typeface="Times New Roman" panose="02020603050405020304" pitchFamily="18" charset="0"/>
                <a:cs typeface="Times New Roman" panose="02020603050405020304" pitchFamily="18" charset="0"/>
              </a:rPr>
              <a:t>• Electronic Balance</a:t>
            </a:r>
          </a:p>
        </p:txBody>
      </p:sp>
      <p:sp>
        <p:nvSpPr>
          <p:cNvPr id="6" name="TextBox 5">
            <a:extLst>
              <a:ext uri="{FF2B5EF4-FFF2-40B4-BE49-F238E27FC236}">
                <a16:creationId xmlns:a16="http://schemas.microsoft.com/office/drawing/2014/main" id="{B2037A3F-0C7F-EC4C-BAB6-33FE561C1FF0}"/>
              </a:ext>
            </a:extLst>
          </p:cNvPr>
          <p:cNvSpPr txBox="1"/>
          <p:nvPr/>
        </p:nvSpPr>
        <p:spPr>
          <a:xfrm>
            <a:off x="6303034" y="2940615"/>
            <a:ext cx="4712897" cy="295465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Reagents</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ABTS</a:t>
            </a:r>
          </a:p>
          <a:p>
            <a:r>
              <a:rPr lang="en-US" sz="2400" dirty="0">
                <a:latin typeface="Times New Roman" panose="02020603050405020304" pitchFamily="18" charset="0"/>
                <a:cs typeface="Times New Roman" panose="02020603050405020304" pitchFamily="18" charset="0"/>
              </a:rPr>
              <a:t>• Potassium persulfate (K₂S₂O₈)</a:t>
            </a:r>
          </a:p>
          <a:p>
            <a:r>
              <a:rPr lang="en-US" sz="2400" dirty="0">
                <a:latin typeface="Times New Roman" panose="02020603050405020304" pitchFamily="18" charset="0"/>
                <a:cs typeface="Times New Roman" panose="02020603050405020304" pitchFamily="18" charset="0"/>
              </a:rPr>
              <a:t>• Ascorbic acid</a:t>
            </a:r>
          </a:p>
          <a:p>
            <a:r>
              <a:rPr lang="en-US" sz="2400" dirty="0">
                <a:latin typeface="Times New Roman" panose="02020603050405020304" pitchFamily="18" charset="0"/>
                <a:cs typeface="Times New Roman" panose="02020603050405020304" pitchFamily="18" charset="0"/>
              </a:rPr>
              <a:t>• Ethanol</a:t>
            </a:r>
          </a:p>
          <a:p>
            <a:r>
              <a:rPr lang="en-US" sz="2400" dirty="0">
                <a:latin typeface="Times New Roman" panose="02020603050405020304" pitchFamily="18" charset="0"/>
                <a:cs typeface="Times New Roman" panose="02020603050405020304" pitchFamily="18" charset="0"/>
              </a:rPr>
              <a:t>• Distilled Water</a:t>
            </a:r>
          </a:p>
          <a:p>
            <a:r>
              <a:rPr lang="en-US" sz="2400" dirty="0">
                <a:latin typeface="Times New Roman" panose="02020603050405020304" pitchFamily="18" charset="0"/>
                <a:cs typeface="Times New Roman" panose="02020603050405020304" pitchFamily="18" charset="0"/>
              </a:rPr>
              <a:t>• Sample: Plant extract</a:t>
            </a:r>
          </a:p>
          <a:p>
            <a:endParaRPr lang="en-US" dirty="0"/>
          </a:p>
        </p:txBody>
      </p:sp>
      <p:cxnSp>
        <p:nvCxnSpPr>
          <p:cNvPr id="7" name="Straight Arrow Connector 6">
            <a:extLst>
              <a:ext uri="{FF2B5EF4-FFF2-40B4-BE49-F238E27FC236}">
                <a16:creationId xmlns:a16="http://schemas.microsoft.com/office/drawing/2014/main" id="{3E209CAF-E0D2-D54D-81E4-416DC6441474}"/>
              </a:ext>
            </a:extLst>
          </p:cNvPr>
          <p:cNvCxnSpPr/>
          <p:nvPr/>
        </p:nvCxnSpPr>
        <p:spPr>
          <a:xfrm>
            <a:off x="2104846" y="895695"/>
            <a:ext cx="396815" cy="0"/>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7939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9"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dissolv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D01ACAE-3540-774B-8931-F93BE277C6A5}"/>
              </a:ext>
            </a:extLst>
          </p:cNvPr>
          <p:cNvSpPr>
            <a:spLocks noGrp="1"/>
          </p:cNvSpPr>
          <p:nvPr>
            <p:ph type="title"/>
          </p:nvPr>
        </p:nvSpPr>
        <p:spPr>
          <a:xfrm>
            <a:off x="3704527" y="2799462"/>
            <a:ext cx="5441113" cy="1325563"/>
          </a:xfrm>
        </p:spPr>
        <p:txBody>
          <a:bodyPr/>
          <a:lstStyle/>
          <a:p>
            <a:r>
              <a:rPr lang="en-US" b="1" dirty="0">
                <a:solidFill>
                  <a:schemeClr val="accent6">
                    <a:lumMod val="50000"/>
                  </a:schemeClr>
                </a:solidFill>
                <a:latin typeface="Times New Roman" panose="02020603050405020304" pitchFamily="18" charset="0"/>
                <a:cs typeface="Times New Roman" panose="02020603050405020304" pitchFamily="18" charset="0"/>
              </a:rPr>
              <a:t>Result and Discussion</a:t>
            </a:r>
          </a:p>
        </p:txBody>
      </p:sp>
    </p:spTree>
    <p:extLst>
      <p:ext uri="{BB962C8B-B14F-4D97-AF65-F5344CB8AC3E}">
        <p14:creationId xmlns:p14="http://schemas.microsoft.com/office/powerpoint/2010/main" val="1704438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2B2BA8C-2BDF-414B-B05B-7BFA8AD0A7D0}"/>
              </a:ext>
            </a:extLst>
          </p:cNvPr>
          <p:cNvSpPr>
            <a:spLocks noGrp="1"/>
          </p:cNvSpPr>
          <p:nvPr>
            <p:ph type="title"/>
          </p:nvPr>
        </p:nvSpPr>
        <p:spPr>
          <a:xfrm>
            <a:off x="838200" y="365125"/>
            <a:ext cx="10515600" cy="1460500"/>
          </a:xfrm>
        </p:spPr>
        <p:txBody>
          <a:bodyPr>
            <a:normAutofit/>
          </a:bodyPr>
          <a:lstStyle/>
          <a:p>
            <a:r>
              <a:rPr lang="en-US" sz="4000" b="1" dirty="0">
                <a:solidFill>
                  <a:schemeClr val="accent6">
                    <a:lumMod val="50000"/>
                  </a:schemeClr>
                </a:solidFill>
                <a:latin typeface="Times New Roman" panose="02020603050405020304" pitchFamily="18" charset="0"/>
                <a:cs typeface="Times New Roman" panose="02020603050405020304" pitchFamily="18" charset="0"/>
              </a:rPr>
              <a:t>Phytochemical Screening</a:t>
            </a:r>
            <a:br>
              <a:rPr lang="en-US" sz="4000" dirty="0"/>
            </a:br>
            <a:endParaRPr lang="en-US" sz="4000" dirty="0"/>
          </a:p>
        </p:txBody>
      </p:sp>
      <p:graphicFrame>
        <p:nvGraphicFramePr>
          <p:cNvPr id="5" name="Table 4">
            <a:extLst>
              <a:ext uri="{FF2B5EF4-FFF2-40B4-BE49-F238E27FC236}">
                <a16:creationId xmlns:a16="http://schemas.microsoft.com/office/drawing/2014/main" id="{36ABD3CD-FB0E-C848-A0B9-1607E97AD0F1}"/>
              </a:ext>
            </a:extLst>
          </p:cNvPr>
          <p:cNvGraphicFramePr>
            <a:graphicFrameLocks noGrp="1"/>
          </p:cNvGraphicFramePr>
          <p:nvPr>
            <p:extLst>
              <p:ext uri="{D42A27DB-BD31-4B8C-83A1-F6EECF244321}">
                <p14:modId xmlns:p14="http://schemas.microsoft.com/office/powerpoint/2010/main" val="547645029"/>
              </p:ext>
            </p:extLst>
          </p:nvPr>
        </p:nvGraphicFramePr>
        <p:xfrm>
          <a:off x="915850" y="1537083"/>
          <a:ext cx="5260663" cy="4259872"/>
        </p:xfrm>
        <a:graphic>
          <a:graphicData uri="http://schemas.openxmlformats.org/drawingml/2006/table">
            <a:tbl>
              <a:tblPr firstRow="1" bandRow="1">
                <a:tableStyleId>{616DA210-FB5B-4158-B5E0-FEB733F419BA}</a:tableStyleId>
              </a:tblPr>
              <a:tblGrid>
                <a:gridCol w="4051819">
                  <a:extLst>
                    <a:ext uri="{9D8B030D-6E8A-4147-A177-3AD203B41FA5}">
                      <a16:colId xmlns:a16="http://schemas.microsoft.com/office/drawing/2014/main" val="3210026973"/>
                    </a:ext>
                  </a:extLst>
                </a:gridCol>
                <a:gridCol w="1208844">
                  <a:extLst>
                    <a:ext uri="{9D8B030D-6E8A-4147-A177-3AD203B41FA5}">
                      <a16:colId xmlns:a16="http://schemas.microsoft.com/office/drawing/2014/main" val="3871345988"/>
                    </a:ext>
                  </a:extLst>
                </a:gridCol>
              </a:tblGrid>
              <a:tr h="532484">
                <a:tc>
                  <a:txBody>
                    <a:bodyPr/>
                    <a:lstStyle/>
                    <a:p>
                      <a:pPr algn="ctr"/>
                      <a:r>
                        <a:rPr lang="en-US" sz="1800" dirty="0">
                          <a:latin typeface="Times New Roman" panose="02020603050405020304" pitchFamily="18" charset="0"/>
                          <a:cs typeface="Times New Roman" panose="02020603050405020304" pitchFamily="18" charset="0"/>
                        </a:rPr>
                        <a:t>Name of Groups</a:t>
                      </a:r>
                    </a:p>
                  </a:txBody>
                  <a:tcPr/>
                </a:tc>
                <a:tc>
                  <a:txBody>
                    <a:bodyPr/>
                    <a:lstStyle/>
                    <a:p>
                      <a:pPr algn="ctr"/>
                      <a:r>
                        <a:rPr lang="en-US" sz="1800" dirty="0">
                          <a:latin typeface="Times New Roman" panose="02020603050405020304" pitchFamily="18" charset="0"/>
                          <a:cs typeface="Times New Roman" panose="02020603050405020304" pitchFamily="18" charset="0"/>
                        </a:rPr>
                        <a:t>Result</a:t>
                      </a:r>
                    </a:p>
                  </a:txBody>
                  <a:tcPr/>
                </a:tc>
                <a:extLst>
                  <a:ext uri="{0D108BD9-81ED-4DB2-BD59-A6C34878D82A}">
                    <a16:rowId xmlns:a16="http://schemas.microsoft.com/office/drawing/2014/main" val="3211419446"/>
                  </a:ext>
                </a:extLst>
              </a:tr>
              <a:tr h="532484">
                <a:tc>
                  <a:txBody>
                    <a:bodyPr/>
                    <a:lstStyle/>
                    <a:p>
                      <a:pPr algn="ctr"/>
                      <a:r>
                        <a:rPr lang="en-US" sz="1800" dirty="0">
                          <a:latin typeface="Times New Roman" panose="02020603050405020304" pitchFamily="18" charset="0"/>
                          <a:cs typeface="Times New Roman" panose="02020603050405020304" pitchFamily="18" charset="0"/>
                        </a:rPr>
                        <a:t>Test for Alkaloids</a:t>
                      </a:r>
                    </a:p>
                  </a:txBody>
                  <a:tcPr/>
                </a:tc>
                <a:tc>
                  <a:txBody>
                    <a:bodyPr/>
                    <a:lstStyle/>
                    <a:p>
                      <a:pPr algn="ctr"/>
                      <a:r>
                        <a:rPr lang="en-US" sz="1800" dirty="0">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3797550810"/>
                  </a:ext>
                </a:extLst>
              </a:tr>
              <a:tr h="532484">
                <a:tc>
                  <a:txBody>
                    <a:bodyPr/>
                    <a:lstStyle/>
                    <a:p>
                      <a:pPr algn="ctr"/>
                      <a:r>
                        <a:rPr lang="en-US" sz="1800" dirty="0">
                          <a:latin typeface="Times New Roman" panose="02020603050405020304" pitchFamily="18" charset="0"/>
                          <a:cs typeface="Times New Roman" panose="02020603050405020304" pitchFamily="18" charset="0"/>
                        </a:rPr>
                        <a:t>Test for Carbohydrates</a:t>
                      </a:r>
                    </a:p>
                  </a:txBody>
                  <a:tcPr/>
                </a:tc>
                <a:tc>
                  <a:txBody>
                    <a:bodyPr/>
                    <a:lstStyle/>
                    <a:p>
                      <a:pPr algn="ctr"/>
                      <a:r>
                        <a:rPr lang="en-US" sz="1800" dirty="0">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446400362"/>
                  </a:ext>
                </a:extLst>
              </a:tr>
              <a:tr h="532484">
                <a:tc>
                  <a:txBody>
                    <a:bodyPr/>
                    <a:lstStyle/>
                    <a:p>
                      <a:pPr algn="ctr"/>
                      <a:r>
                        <a:rPr lang="en-US" sz="1800" dirty="0">
                          <a:latin typeface="Times New Roman" panose="02020603050405020304" pitchFamily="18" charset="0"/>
                          <a:cs typeface="Times New Roman" panose="02020603050405020304" pitchFamily="18" charset="0"/>
                        </a:rPr>
                        <a:t>Test for Saponin</a:t>
                      </a:r>
                    </a:p>
                  </a:txBody>
                  <a:tcPr/>
                </a:tc>
                <a:tc>
                  <a:txBody>
                    <a:bodyPr/>
                    <a:lstStyle/>
                    <a:p>
                      <a:pPr algn="ctr"/>
                      <a:r>
                        <a:rPr lang="en-US" sz="1800" dirty="0">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2387033787"/>
                  </a:ext>
                </a:extLst>
              </a:tr>
              <a:tr h="532484">
                <a:tc>
                  <a:txBody>
                    <a:bodyPr/>
                    <a:lstStyle/>
                    <a:p>
                      <a:pPr algn="ctr"/>
                      <a:r>
                        <a:rPr lang="en-US" sz="1800" dirty="0">
                          <a:latin typeface="Times New Roman" panose="02020603050405020304" pitchFamily="18" charset="0"/>
                          <a:cs typeface="Times New Roman" panose="02020603050405020304" pitchFamily="18" charset="0"/>
                        </a:rPr>
                        <a:t>Test for Flavonoids</a:t>
                      </a:r>
                    </a:p>
                  </a:txBody>
                  <a:tcPr/>
                </a:tc>
                <a:tc>
                  <a:txBody>
                    <a:bodyPr/>
                    <a:lstStyle/>
                    <a:p>
                      <a:pPr algn="ctr"/>
                      <a:r>
                        <a:rPr lang="en-US" sz="1800" dirty="0">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315918182"/>
                  </a:ext>
                </a:extLst>
              </a:tr>
              <a:tr h="532484">
                <a:tc>
                  <a:txBody>
                    <a:bodyPr/>
                    <a:lstStyle/>
                    <a:p>
                      <a:pPr algn="ctr"/>
                      <a:r>
                        <a:rPr lang="en-US" sz="1800" dirty="0">
                          <a:latin typeface="Times New Roman" panose="02020603050405020304" pitchFamily="18" charset="0"/>
                          <a:cs typeface="Times New Roman" panose="02020603050405020304" pitchFamily="18" charset="0"/>
                        </a:rPr>
                        <a:t>Test for Tannins</a:t>
                      </a:r>
                    </a:p>
                  </a:txBody>
                  <a:tcPr/>
                </a:tc>
                <a:tc>
                  <a:txBody>
                    <a:bodyPr/>
                    <a:lstStyle/>
                    <a:p>
                      <a:pPr algn="ctr"/>
                      <a:r>
                        <a:rPr lang="en-US" sz="1800" dirty="0">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4035517309"/>
                  </a:ext>
                </a:extLst>
              </a:tr>
              <a:tr h="532484">
                <a:tc>
                  <a:txBody>
                    <a:bodyPr/>
                    <a:lstStyle/>
                    <a:p>
                      <a:pPr algn="ctr"/>
                      <a:r>
                        <a:rPr lang="en-US" sz="1800" dirty="0">
                          <a:latin typeface="Times New Roman" panose="02020603050405020304" pitchFamily="18" charset="0"/>
                          <a:cs typeface="Times New Roman" panose="02020603050405020304" pitchFamily="18" charset="0"/>
                        </a:rPr>
                        <a:t>Test for Phenolic</a:t>
                      </a:r>
                    </a:p>
                  </a:txBody>
                  <a:tcPr/>
                </a:tc>
                <a:tc>
                  <a:txBody>
                    <a:bodyPr/>
                    <a:lstStyle/>
                    <a:p>
                      <a:pPr algn="ctr"/>
                      <a:r>
                        <a:rPr lang="en-US" sz="1800" dirty="0">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1806006895"/>
                  </a:ext>
                </a:extLst>
              </a:tr>
              <a:tr h="532484">
                <a:tc>
                  <a:txBody>
                    <a:bodyPr/>
                    <a:lstStyle/>
                    <a:p>
                      <a:pPr algn="ctr"/>
                      <a:r>
                        <a:rPr lang="en-US" sz="1800" dirty="0">
                          <a:latin typeface="Times New Roman" panose="02020603050405020304" pitchFamily="18" charset="0"/>
                          <a:cs typeface="Times New Roman" panose="02020603050405020304" pitchFamily="18" charset="0"/>
                        </a:rPr>
                        <a:t>Test for Terpenoids</a:t>
                      </a:r>
                    </a:p>
                  </a:txBody>
                  <a:tcPr/>
                </a:tc>
                <a:tc>
                  <a:txBody>
                    <a:bodyPr/>
                    <a:lstStyle/>
                    <a:p>
                      <a:pPr algn="ctr"/>
                      <a:r>
                        <a:rPr lang="en-US" sz="1800" dirty="0">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2694532761"/>
                  </a:ext>
                </a:extLst>
              </a:tr>
            </a:tbl>
          </a:graphicData>
        </a:graphic>
      </p:graphicFrame>
      <p:sp>
        <p:nvSpPr>
          <p:cNvPr id="6" name="Rectangle 5">
            <a:extLst>
              <a:ext uri="{FF2B5EF4-FFF2-40B4-BE49-F238E27FC236}">
                <a16:creationId xmlns:a16="http://schemas.microsoft.com/office/drawing/2014/main" id="{139F3202-8807-DB4C-BAD0-16C8CAFB2621}"/>
              </a:ext>
            </a:extLst>
          </p:cNvPr>
          <p:cNvSpPr/>
          <p:nvPr/>
        </p:nvSpPr>
        <p:spPr>
          <a:xfrm>
            <a:off x="7045625" y="1502459"/>
            <a:ext cx="2317629" cy="646331"/>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Here,</a:t>
            </a:r>
          </a:p>
          <a:p>
            <a:r>
              <a:rPr lang="en-US" dirty="0">
                <a:latin typeface="Times New Roman" panose="02020603050405020304" pitchFamily="18" charset="0"/>
                <a:cs typeface="Times New Roman" panose="02020603050405020304" pitchFamily="18" charset="0"/>
              </a:rPr>
              <a:t>(+)= Present</a:t>
            </a:r>
          </a:p>
        </p:txBody>
      </p:sp>
      <p:sp>
        <p:nvSpPr>
          <p:cNvPr id="7" name="Rectangle 6">
            <a:extLst>
              <a:ext uri="{FF2B5EF4-FFF2-40B4-BE49-F238E27FC236}">
                <a16:creationId xmlns:a16="http://schemas.microsoft.com/office/drawing/2014/main" id="{9E8C2BA7-343E-7044-9353-A14C20C349B0}"/>
              </a:ext>
            </a:extLst>
          </p:cNvPr>
          <p:cNvSpPr/>
          <p:nvPr/>
        </p:nvSpPr>
        <p:spPr>
          <a:xfrm>
            <a:off x="6731479" y="4011132"/>
            <a:ext cx="4025661" cy="2031325"/>
          </a:xfrm>
          <a:prstGeom prst="rect">
            <a:avLst/>
          </a:prstGeom>
        </p:spPr>
        <p:txBody>
          <a:bodyPr wrap="square">
            <a:spAutoFit/>
          </a:bodyPr>
          <a:lstStyle/>
          <a:p>
            <a:pPr algn="just"/>
            <a:r>
              <a:rPr lang="en-US" b="1" dirty="0">
                <a:latin typeface="Times New Roman" panose="02020603050405020304" pitchFamily="18" charset="0"/>
                <a:cs typeface="Times New Roman" panose="02020603050405020304" pitchFamily="18" charset="0"/>
              </a:rPr>
              <a:t>Result: </a:t>
            </a:r>
            <a:r>
              <a:rPr lang="en-US" dirty="0">
                <a:latin typeface="Times New Roman" panose="02020603050405020304" pitchFamily="18" charset="0"/>
                <a:cs typeface="Times New Roman" panose="02020603050405020304" pitchFamily="18" charset="0"/>
              </a:rPr>
              <a:t>From this test, we find that </a:t>
            </a:r>
            <a:r>
              <a:rPr lang="en-US" b="1" dirty="0">
                <a:latin typeface="Times New Roman" panose="02020603050405020304" pitchFamily="18" charset="0"/>
                <a:cs typeface="Times New Roman" panose="02020603050405020304" pitchFamily="18" charset="0"/>
              </a:rPr>
              <a:t>Alkaloids, Carbohydrates, Tannins, Saponin, Flavonoids, Terpenoids, and Phenolic</a:t>
            </a:r>
            <a:r>
              <a:rPr lang="en-US" dirty="0">
                <a:latin typeface="Times New Roman" panose="02020603050405020304" pitchFamily="18" charset="0"/>
                <a:cs typeface="Times New Roman" panose="02020603050405020304" pitchFamily="18" charset="0"/>
              </a:rPr>
              <a:t> are present in the Aqueous Extract of Pericarp of </a:t>
            </a:r>
            <a:r>
              <a:rPr lang="en-US" b="1" i="1" dirty="0">
                <a:latin typeface="Times New Roman" panose="02020603050405020304" pitchFamily="18" charset="0"/>
                <a:cs typeface="Times New Roman" panose="02020603050405020304" pitchFamily="18" charset="0"/>
              </a:rPr>
              <a:t>Luffa </a:t>
            </a:r>
            <a:r>
              <a:rPr lang="en-US" b="1" i="1" dirty="0" err="1">
                <a:latin typeface="Times New Roman" panose="02020603050405020304" pitchFamily="18" charset="0"/>
                <a:cs typeface="Times New Roman" panose="02020603050405020304" pitchFamily="18" charset="0"/>
              </a:rPr>
              <a:t>aegyptiaca</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(Sponge Gourd)</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495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9"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dissolve">
                                      <p:cBhvr>
                                        <p:cTn id="13" dur="500"/>
                                        <p:tgtEl>
                                          <p:spTgt spid="6"/>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EFFB9-6DA8-9642-8013-39423CAE97EE}"/>
              </a:ext>
            </a:extLst>
          </p:cNvPr>
          <p:cNvSpPr>
            <a:spLocks noGrp="1"/>
          </p:cNvSpPr>
          <p:nvPr>
            <p:ph type="title"/>
          </p:nvPr>
        </p:nvSpPr>
        <p:spPr>
          <a:xfrm>
            <a:off x="2874033" y="2677003"/>
            <a:ext cx="6580517" cy="1325563"/>
          </a:xfrm>
        </p:spPr>
        <p:txBody>
          <a:bodyPr/>
          <a:lstStyle/>
          <a:p>
            <a:r>
              <a:rPr lang="en-US" sz="4000" b="1" dirty="0">
                <a:solidFill>
                  <a:schemeClr val="accent6">
                    <a:lumMod val="50000"/>
                  </a:schemeClr>
                </a:solidFill>
                <a:latin typeface="Times New Roman" panose="02020603050405020304" pitchFamily="18" charset="0"/>
                <a:cs typeface="Times New Roman" panose="02020603050405020304" pitchFamily="18" charset="0"/>
              </a:rPr>
              <a:t>Antioxidant Activity Test</a:t>
            </a:r>
          </a:p>
        </p:txBody>
      </p:sp>
    </p:spTree>
    <p:extLst>
      <p:ext uri="{BB962C8B-B14F-4D97-AF65-F5344CB8AC3E}">
        <p14:creationId xmlns:p14="http://schemas.microsoft.com/office/powerpoint/2010/main" val="3995076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B36F2-E3EC-7B43-BB33-4D50C19B99B4}"/>
              </a:ext>
            </a:extLst>
          </p:cNvPr>
          <p:cNvSpPr>
            <a:spLocks noGrp="1"/>
          </p:cNvSpPr>
          <p:nvPr>
            <p:ph type="title"/>
          </p:nvPr>
        </p:nvSpPr>
        <p:spPr/>
        <p:txBody>
          <a:bodyPr>
            <a:normAutofit/>
          </a:bodyPr>
          <a:lstStyle/>
          <a:p>
            <a:r>
              <a:rPr lang="en-US" sz="4000" b="1" dirty="0">
                <a:solidFill>
                  <a:schemeClr val="accent6">
                    <a:lumMod val="50000"/>
                  </a:schemeClr>
                </a:solidFill>
                <a:latin typeface="Times New Roman" panose="02020603050405020304" pitchFamily="18" charset="0"/>
                <a:cs typeface="Times New Roman" panose="02020603050405020304" pitchFamily="18" charset="0"/>
              </a:rPr>
              <a:t>DPPH Free Radical Scavenging Activity</a:t>
            </a:r>
            <a:br>
              <a:rPr lang="en-US" sz="4000" dirty="0"/>
            </a:br>
            <a:endParaRPr lang="en-US" sz="4000" dirty="0"/>
          </a:p>
        </p:txBody>
      </p:sp>
      <p:pic>
        <p:nvPicPr>
          <p:cNvPr id="4" name="Picture 3">
            <a:extLst>
              <a:ext uri="{FF2B5EF4-FFF2-40B4-BE49-F238E27FC236}">
                <a16:creationId xmlns:a16="http://schemas.microsoft.com/office/drawing/2014/main" id="{18AF30D3-DBA3-534B-A2F7-17168C3C9E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0086" y="1466400"/>
            <a:ext cx="5374076" cy="3951577"/>
          </a:xfrm>
          <a:prstGeom prst="rect">
            <a:avLst/>
          </a:prstGeom>
          <a:solidFill>
            <a:schemeClr val="bg1"/>
          </a:solidFill>
        </p:spPr>
      </p:pic>
      <p:sp>
        <p:nvSpPr>
          <p:cNvPr id="5" name="Text Box 44">
            <a:extLst>
              <a:ext uri="{FF2B5EF4-FFF2-40B4-BE49-F238E27FC236}">
                <a16:creationId xmlns:a16="http://schemas.microsoft.com/office/drawing/2014/main" id="{79186102-F328-174E-ACFD-BE45B9018371}"/>
              </a:ext>
            </a:extLst>
          </p:cNvPr>
          <p:cNvSpPr txBox="1"/>
          <p:nvPr/>
        </p:nvSpPr>
        <p:spPr>
          <a:xfrm rot="16200000">
            <a:off x="1780777" y="3367634"/>
            <a:ext cx="2660549" cy="149106"/>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spcBef>
                <a:spcPts val="0"/>
              </a:spcBef>
              <a:spcAft>
                <a:spcPts val="0"/>
              </a:spcAft>
            </a:pPr>
            <a:r>
              <a:rPr lang="en-US" sz="1200" b="1" dirty="0">
                <a:effectLst/>
                <a:latin typeface="Times New Roman" panose="02020603050405020304" pitchFamily="18" charset="0"/>
                <a:ea typeface="Times New Roman" panose="02020603050405020304" pitchFamily="18" charset="0"/>
              </a:rPr>
              <a:t>% RSA (Radical Scavenging Activity)</a:t>
            </a:r>
            <a:endParaRPr lang="en-US" sz="12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200" dirty="0">
                <a:effectLst/>
                <a:latin typeface="Times New Roman" panose="02020603050405020304" pitchFamily="18" charset="0"/>
                <a:ea typeface="Times New Roman" panose="02020603050405020304" pitchFamily="18" charset="0"/>
              </a:rPr>
              <a:t> </a:t>
            </a:r>
          </a:p>
        </p:txBody>
      </p:sp>
      <p:sp>
        <p:nvSpPr>
          <p:cNvPr id="6" name="TextBox 5">
            <a:extLst>
              <a:ext uri="{FF2B5EF4-FFF2-40B4-BE49-F238E27FC236}">
                <a16:creationId xmlns:a16="http://schemas.microsoft.com/office/drawing/2014/main" id="{B2C1E2DC-083B-DA48-A56E-ABC467C334E2}"/>
              </a:ext>
            </a:extLst>
          </p:cNvPr>
          <p:cNvSpPr txBox="1"/>
          <p:nvPr/>
        </p:nvSpPr>
        <p:spPr>
          <a:xfrm>
            <a:off x="2216989" y="5702061"/>
            <a:ext cx="8695427"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Figure : Graphical representation of % of DPPH radical scavenging</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activity vs Concentration of </a:t>
            </a:r>
            <a:r>
              <a:rPr lang="en-US" b="1" i="1" dirty="0">
                <a:latin typeface="Times New Roman" panose="02020603050405020304" pitchFamily="18" charset="0"/>
                <a:cs typeface="Times New Roman" panose="02020603050405020304" pitchFamily="18" charset="0"/>
              </a:rPr>
              <a:t>Luffa </a:t>
            </a:r>
            <a:r>
              <a:rPr lang="en-US" b="1" i="1" dirty="0" err="1">
                <a:latin typeface="Times New Roman" panose="02020603050405020304" pitchFamily="18" charset="0"/>
                <a:cs typeface="Times New Roman" panose="02020603050405020304" pitchFamily="18" charset="0"/>
              </a:rPr>
              <a:t>aegyptiaca</a:t>
            </a:r>
            <a:r>
              <a:rPr lang="en-US" b="1" i="1" dirty="0">
                <a:latin typeface="Times New Roman" panose="02020603050405020304" pitchFamily="18" charset="0"/>
                <a:cs typeface="Times New Roman" panose="02020603050405020304" pitchFamily="18" charset="0"/>
              </a:rPr>
              <a:t> </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617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ssolve">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E0624B-D653-DB43-B8F2-FE9B5ED1AA5F}"/>
              </a:ext>
            </a:extLst>
          </p:cNvPr>
          <p:cNvSpPr>
            <a:spLocks noGrp="1"/>
          </p:cNvSpPr>
          <p:nvPr>
            <p:ph idx="1"/>
          </p:nvPr>
        </p:nvSpPr>
        <p:spPr>
          <a:xfrm>
            <a:off x="751936" y="388189"/>
            <a:ext cx="10626306" cy="6107502"/>
          </a:xfrm>
        </p:spPr>
        <p:txBody>
          <a:bodyPr/>
          <a:lstStyle/>
          <a:p>
            <a:r>
              <a:rPr lang="en-US" sz="2400" dirty="0">
                <a:latin typeface="Times New Roman" panose="02020603050405020304" pitchFamily="18" charset="0"/>
                <a:cs typeface="Times New Roman" panose="02020603050405020304" pitchFamily="18" charset="0"/>
              </a:rPr>
              <a:t>The DPPH assay measures a substance’s ability to neutralize free radicals, with lower IC₅₀ values indicating superior antioxidant efficacy. The pericarp extract exhibited strong radical scavenging activity, achieving an IC₅₀ of 485.843 ± 88.902 µg/</a:t>
            </a:r>
            <a:r>
              <a:rPr lang="en-US" sz="2400" dirty="0" err="1">
                <a:latin typeface="Times New Roman" panose="02020603050405020304" pitchFamily="18" charset="0"/>
                <a:cs typeface="Times New Roman" panose="02020603050405020304" pitchFamily="18" charset="0"/>
              </a:rPr>
              <a:t>mL.</a:t>
            </a:r>
            <a:r>
              <a:rPr lang="en-US" sz="2400" dirty="0">
                <a:latin typeface="Times New Roman" panose="02020603050405020304" pitchFamily="18" charset="0"/>
                <a:cs typeface="Times New Roman" panose="02020603050405020304" pitchFamily="18" charset="0"/>
              </a:rPr>
              <a:t> This suggests moderate antioxidant potential, requiring higher concentrations to neutralize 50% of free radicals compared to synthetic standards. Ascorbic acid (reference standard) demonstrated significantly higher efficacy, with an IC₅₀ of 9.287 ± 2.495 µg/</a:t>
            </a:r>
            <a:r>
              <a:rPr lang="en-US" sz="2400" dirty="0" err="1">
                <a:latin typeface="Times New Roman" panose="02020603050405020304" pitchFamily="18" charset="0"/>
                <a:cs typeface="Times New Roman" panose="02020603050405020304" pitchFamily="18" charset="0"/>
              </a:rPr>
              <a:t>mL.</a:t>
            </a:r>
            <a:r>
              <a:rPr lang="en-US" sz="2400" dirty="0">
                <a:latin typeface="Times New Roman" panose="02020603050405020304" pitchFamily="18" charset="0"/>
                <a:cs typeface="Times New Roman" panose="02020603050405020304" pitchFamily="18" charset="0"/>
              </a:rPr>
              <a:t> This stark difference highlights the extract’s relative limitations in scavenging free radicals at lower concentrations.</a:t>
            </a:r>
          </a:p>
          <a:p>
            <a:endParaRPr lang="en-US" dirty="0"/>
          </a:p>
        </p:txBody>
      </p:sp>
      <p:graphicFrame>
        <p:nvGraphicFramePr>
          <p:cNvPr id="6" name="Table 5">
            <a:extLst>
              <a:ext uri="{FF2B5EF4-FFF2-40B4-BE49-F238E27FC236}">
                <a16:creationId xmlns:a16="http://schemas.microsoft.com/office/drawing/2014/main" id="{B00B7BFD-FCE6-034D-BC3C-A1E8B937AFB7}"/>
              </a:ext>
            </a:extLst>
          </p:cNvPr>
          <p:cNvGraphicFramePr>
            <a:graphicFrameLocks noGrp="1"/>
          </p:cNvGraphicFramePr>
          <p:nvPr>
            <p:extLst>
              <p:ext uri="{D42A27DB-BD31-4B8C-83A1-F6EECF244321}">
                <p14:modId xmlns:p14="http://schemas.microsoft.com/office/powerpoint/2010/main" val="319906709"/>
              </p:ext>
            </p:extLst>
          </p:nvPr>
        </p:nvGraphicFramePr>
        <p:xfrm>
          <a:off x="1155353" y="4081460"/>
          <a:ext cx="9342993" cy="1106339"/>
        </p:xfrm>
        <a:graphic>
          <a:graphicData uri="http://schemas.openxmlformats.org/drawingml/2006/table">
            <a:tbl>
              <a:tblPr firstRow="1" firstCol="1" bandRow="1">
                <a:tableStyleId>{5C22544A-7EE6-4342-B048-85BDC9FD1C3A}</a:tableStyleId>
              </a:tblPr>
              <a:tblGrid>
                <a:gridCol w="3563497">
                  <a:extLst>
                    <a:ext uri="{9D8B030D-6E8A-4147-A177-3AD203B41FA5}">
                      <a16:colId xmlns:a16="http://schemas.microsoft.com/office/drawing/2014/main" val="3500968027"/>
                    </a:ext>
                  </a:extLst>
                </a:gridCol>
                <a:gridCol w="3563497">
                  <a:extLst>
                    <a:ext uri="{9D8B030D-6E8A-4147-A177-3AD203B41FA5}">
                      <a16:colId xmlns:a16="http://schemas.microsoft.com/office/drawing/2014/main" val="3760220561"/>
                    </a:ext>
                  </a:extLst>
                </a:gridCol>
                <a:gridCol w="2215999">
                  <a:extLst>
                    <a:ext uri="{9D8B030D-6E8A-4147-A177-3AD203B41FA5}">
                      <a16:colId xmlns:a16="http://schemas.microsoft.com/office/drawing/2014/main" val="2042457245"/>
                    </a:ext>
                  </a:extLst>
                </a:gridCol>
              </a:tblGrid>
              <a:tr h="275966">
                <a:tc rowSpan="2">
                  <a:txBody>
                    <a:bodyPr/>
                    <a:lstStyle/>
                    <a:p>
                      <a:pPr marL="0" marR="0" algn="ctr">
                        <a:spcBef>
                          <a:spcPts val="0"/>
                        </a:spcBef>
                        <a:spcAft>
                          <a:spcPts val="0"/>
                        </a:spcAft>
                      </a:pPr>
                      <a:r>
                        <a:rPr lang="en-US" sz="2000" dirty="0">
                          <a:solidFill>
                            <a:schemeClr val="tx1"/>
                          </a:solidFill>
                          <a:effectLst/>
                          <a:latin typeface="Times New Roman" panose="02020603050405020304" pitchFamily="18" charset="0"/>
                          <a:cs typeface="Times New Roman" panose="02020603050405020304" pitchFamily="18" charset="0"/>
                        </a:rPr>
                        <a:t>Methods</a:t>
                      </a:r>
                    </a:p>
                    <a:p>
                      <a:pPr marL="0" marR="0" algn="ctr">
                        <a:spcBef>
                          <a:spcPts val="0"/>
                        </a:spcBef>
                        <a:spcAft>
                          <a:spcPts val="0"/>
                        </a:spcAft>
                      </a:pPr>
                      <a:r>
                        <a:rPr lang="en-US" sz="2000" dirty="0">
                          <a:solidFill>
                            <a:schemeClr val="tx1"/>
                          </a:solidFill>
                          <a:effectLst/>
                          <a:latin typeface="Times New Roman" panose="02020603050405020304" pitchFamily="18" charset="0"/>
                          <a:cs typeface="Times New Roman" panose="02020603050405020304" pitchFamily="18" charset="0"/>
                        </a:rPr>
                        <a:t> </a:t>
                      </a:r>
                      <a:endParaRPr lang="en-US"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000" dirty="0">
                          <a:solidFill>
                            <a:schemeClr val="tx1"/>
                          </a:solidFill>
                          <a:effectLst/>
                          <a:latin typeface="Times New Roman" panose="02020603050405020304" pitchFamily="18" charset="0"/>
                          <a:cs typeface="Times New Roman" panose="02020603050405020304" pitchFamily="18" charset="0"/>
                        </a:rPr>
                        <a:t>Extracts</a:t>
                      </a:r>
                      <a:endParaRPr lang="en-US"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000" dirty="0">
                          <a:solidFill>
                            <a:schemeClr val="tx1"/>
                          </a:solidFill>
                          <a:effectLst/>
                          <a:latin typeface="Times New Roman" panose="02020603050405020304" pitchFamily="18" charset="0"/>
                          <a:cs typeface="Times New Roman" panose="02020603050405020304" pitchFamily="18" charset="0"/>
                        </a:rPr>
                        <a:t>Standard</a:t>
                      </a:r>
                      <a:endParaRPr lang="en-US"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1585501"/>
                  </a:ext>
                </a:extLst>
              </a:tr>
              <a:tr h="278554">
                <a:tc vMerge="1">
                  <a:txBody>
                    <a:bodyPr/>
                    <a:lstStyle/>
                    <a:p>
                      <a:endParaRPr lang="en-US"/>
                    </a:p>
                  </a:txBody>
                  <a:tcPr/>
                </a:tc>
                <a:tc>
                  <a:txBody>
                    <a:bodyPr/>
                    <a:lstStyle/>
                    <a:p>
                      <a:pPr marL="0" marR="0" algn="ctr">
                        <a:spcBef>
                          <a:spcPts val="0"/>
                        </a:spcBef>
                        <a:spcAft>
                          <a:spcPts val="0"/>
                        </a:spcAft>
                      </a:pPr>
                      <a:r>
                        <a:rPr lang="en-US" sz="2000" i="1" dirty="0">
                          <a:solidFill>
                            <a:schemeClr val="tx1"/>
                          </a:solidFill>
                          <a:effectLst/>
                          <a:latin typeface="Times New Roman" panose="02020603050405020304" pitchFamily="18" charset="0"/>
                          <a:cs typeface="Times New Roman" panose="02020603050405020304" pitchFamily="18" charset="0"/>
                        </a:rPr>
                        <a:t>L. </a:t>
                      </a:r>
                      <a:r>
                        <a:rPr lang="en-US" sz="2000" i="1" dirty="0" err="1">
                          <a:solidFill>
                            <a:schemeClr val="tx1"/>
                          </a:solidFill>
                          <a:effectLst/>
                          <a:latin typeface="Times New Roman" panose="02020603050405020304" pitchFamily="18" charset="0"/>
                          <a:cs typeface="Times New Roman" panose="02020603050405020304" pitchFamily="18" charset="0"/>
                        </a:rPr>
                        <a:t>aegyptiaca</a:t>
                      </a:r>
                      <a:endParaRPr lang="en-US" sz="2000" i="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000" dirty="0">
                          <a:solidFill>
                            <a:schemeClr val="tx1"/>
                          </a:solidFill>
                          <a:effectLst/>
                          <a:latin typeface="Times New Roman" panose="02020603050405020304" pitchFamily="18" charset="0"/>
                          <a:cs typeface="Times New Roman" panose="02020603050405020304" pitchFamily="18" charset="0"/>
                        </a:rPr>
                        <a:t>Ascorbic Acid</a:t>
                      </a:r>
                      <a:endParaRPr lang="en-US"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1668426"/>
                  </a:ext>
                </a:extLst>
              </a:tr>
              <a:tr h="496739">
                <a:tc>
                  <a:txBody>
                    <a:bodyPr/>
                    <a:lstStyle/>
                    <a:p>
                      <a:pPr marL="0" marR="0" algn="ctr">
                        <a:spcBef>
                          <a:spcPts val="0"/>
                        </a:spcBef>
                        <a:spcAft>
                          <a:spcPts val="0"/>
                        </a:spcAft>
                      </a:pPr>
                      <a:r>
                        <a:rPr lang="en-US" sz="2000" dirty="0">
                          <a:solidFill>
                            <a:schemeClr val="tx1"/>
                          </a:solidFill>
                          <a:effectLst/>
                          <a:latin typeface="Times New Roman" panose="02020603050405020304" pitchFamily="18" charset="0"/>
                          <a:cs typeface="Times New Roman" panose="02020603050405020304" pitchFamily="18" charset="0"/>
                        </a:rPr>
                        <a:t>DPPH/ IC₅₀ (µg/mL)</a:t>
                      </a:r>
                      <a:endParaRPr lang="en-US"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000" dirty="0">
                          <a:solidFill>
                            <a:schemeClr val="tx1"/>
                          </a:solidFill>
                          <a:effectLst/>
                          <a:latin typeface="Times New Roman" panose="02020603050405020304" pitchFamily="18" charset="0"/>
                          <a:cs typeface="Times New Roman" panose="02020603050405020304" pitchFamily="18" charset="0"/>
                        </a:rPr>
                        <a:t> 485.843±88.902 µg/mL</a:t>
                      </a:r>
                      <a:endParaRPr lang="en-US"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000" dirty="0">
                          <a:solidFill>
                            <a:schemeClr val="tx1"/>
                          </a:solidFill>
                          <a:effectLst/>
                          <a:latin typeface="Times New Roman" panose="02020603050405020304" pitchFamily="18" charset="0"/>
                          <a:cs typeface="Times New Roman" panose="02020603050405020304" pitchFamily="18" charset="0"/>
                        </a:rPr>
                        <a:t> 9.287±2.495µg/mL</a:t>
                      </a:r>
                      <a:endParaRPr lang="en-US"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2632931"/>
                  </a:ext>
                </a:extLst>
              </a:tr>
            </a:tbl>
          </a:graphicData>
        </a:graphic>
      </p:graphicFrame>
      <p:sp>
        <p:nvSpPr>
          <p:cNvPr id="7" name="Rectangle 2">
            <a:extLst>
              <a:ext uri="{FF2B5EF4-FFF2-40B4-BE49-F238E27FC236}">
                <a16:creationId xmlns:a16="http://schemas.microsoft.com/office/drawing/2014/main" id="{526A286F-8F7D-3C41-BF71-67925F4F1116}"/>
              </a:ext>
            </a:extLst>
          </p:cNvPr>
          <p:cNvSpPr>
            <a:spLocks noChangeArrowheads="1"/>
          </p:cNvSpPr>
          <p:nvPr/>
        </p:nvSpPr>
        <p:spPr bwMode="auto">
          <a:xfrm>
            <a:off x="1155353" y="3529695"/>
            <a:ext cx="853894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1pPr>
            <a:lvl2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2pPr>
            <a:lvl3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3pPr>
            <a:lvl4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4pPr>
            <a:lvl5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5pPr>
            <a:lvl6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6pPr>
            <a:lvl7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7pPr>
            <a:lvl8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8pPr>
            <a:lvl9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kumimoji="0" lang="en-US" altLang="en-US" b="1"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Table 1 : IC₅₀ value of </a:t>
            </a:r>
            <a:r>
              <a:rPr kumimoji="0" lang="en-US" altLang="en-US" b="1" i="1"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Luffa </a:t>
            </a:r>
            <a:r>
              <a:rPr kumimoji="0" lang="en-US" altLang="en-US" b="1" i="1" u="none" strike="noStrike" cap="none" normalizeH="0" baseline="0" dirty="0" err="1">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aegyptiaca</a:t>
            </a:r>
            <a:r>
              <a:rPr kumimoji="0" lang="en-US" altLang="en-US" b="1" i="1"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1"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pericarp</a:t>
            </a:r>
            <a:r>
              <a:rPr kumimoji="0" lang="en-US" altLang="en-US" b="1" i="1"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1"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extract &amp; standard for DPPH Assay</a:t>
            </a: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61695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dissolv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2B6B2-8603-BD40-9595-2D22C2DD73B6}"/>
              </a:ext>
            </a:extLst>
          </p:cNvPr>
          <p:cNvSpPr>
            <a:spLocks noGrp="1"/>
          </p:cNvSpPr>
          <p:nvPr>
            <p:ph type="title"/>
          </p:nvPr>
        </p:nvSpPr>
        <p:spPr>
          <a:xfrm>
            <a:off x="812321" y="235729"/>
            <a:ext cx="10515600" cy="1325563"/>
          </a:xfrm>
        </p:spPr>
        <p:txBody>
          <a:bodyPr>
            <a:normAutofit/>
          </a:bodyPr>
          <a:lstStyle/>
          <a:p>
            <a:r>
              <a:rPr lang="en-US" sz="4000" b="1" dirty="0">
                <a:solidFill>
                  <a:schemeClr val="accent6">
                    <a:lumMod val="50000"/>
                  </a:schemeClr>
                </a:solidFill>
                <a:latin typeface="Times New Roman" panose="02020603050405020304" pitchFamily="18" charset="0"/>
                <a:cs typeface="Times New Roman" panose="02020603050405020304" pitchFamily="18" charset="0"/>
              </a:rPr>
              <a:t>ABTS Free Radical Scavenging Activity</a:t>
            </a:r>
            <a:endParaRPr lang="en-US" sz="4000" dirty="0">
              <a:solidFill>
                <a:schemeClr val="accent6">
                  <a:lumMod val="50000"/>
                </a:schemeClr>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492DA96-6768-0240-A142-EB8523FFBBCB}"/>
              </a:ext>
            </a:extLst>
          </p:cNvPr>
          <p:cNvPicPr/>
          <p:nvPr/>
        </p:nvPicPr>
        <p:blipFill>
          <a:blip r:embed="rId2">
            <a:extLst>
              <a:ext uri="{28A0092B-C50C-407E-A947-70E740481C1C}">
                <a14:useLocalDpi xmlns:a14="http://schemas.microsoft.com/office/drawing/2010/main" val="0"/>
              </a:ext>
            </a:extLst>
          </a:blip>
          <a:stretch>
            <a:fillRect/>
          </a:stretch>
        </p:blipFill>
        <p:spPr>
          <a:xfrm>
            <a:off x="3053751" y="1370521"/>
            <a:ext cx="5165905" cy="3908845"/>
          </a:xfrm>
          <a:prstGeom prst="rect">
            <a:avLst/>
          </a:prstGeom>
          <a:solidFill>
            <a:schemeClr val="bg1"/>
          </a:solidFill>
        </p:spPr>
      </p:pic>
      <p:sp>
        <p:nvSpPr>
          <p:cNvPr id="5" name="TextBox 4">
            <a:extLst>
              <a:ext uri="{FF2B5EF4-FFF2-40B4-BE49-F238E27FC236}">
                <a16:creationId xmlns:a16="http://schemas.microsoft.com/office/drawing/2014/main" id="{ACD4AE24-6E6D-9F4A-B235-7CB402966837}"/>
              </a:ext>
            </a:extLst>
          </p:cNvPr>
          <p:cNvSpPr txBox="1"/>
          <p:nvPr/>
        </p:nvSpPr>
        <p:spPr>
          <a:xfrm>
            <a:off x="2216989" y="5702061"/>
            <a:ext cx="8695427"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Figure : Graphical representation of % of ABTS radical scavenging</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activity vs Concentration of </a:t>
            </a:r>
            <a:r>
              <a:rPr lang="en-US" b="1" i="1" dirty="0">
                <a:latin typeface="Times New Roman" panose="02020603050405020304" pitchFamily="18" charset="0"/>
                <a:cs typeface="Times New Roman" panose="02020603050405020304" pitchFamily="18" charset="0"/>
              </a:rPr>
              <a:t>Luffa </a:t>
            </a:r>
            <a:r>
              <a:rPr lang="en-US" b="1" i="1" dirty="0" err="1">
                <a:latin typeface="Times New Roman" panose="02020603050405020304" pitchFamily="18" charset="0"/>
                <a:cs typeface="Times New Roman" panose="02020603050405020304" pitchFamily="18" charset="0"/>
              </a:rPr>
              <a:t>aegyptiaca</a:t>
            </a:r>
            <a:r>
              <a:rPr lang="en-US" b="1" i="1" dirty="0">
                <a:latin typeface="Times New Roman" panose="02020603050405020304" pitchFamily="18" charset="0"/>
                <a:cs typeface="Times New Roman" panose="02020603050405020304" pitchFamily="18" charset="0"/>
              </a:rPr>
              <a:t> </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4162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1B0378-1A77-CF45-9235-C50A147B256A}"/>
              </a:ext>
            </a:extLst>
          </p:cNvPr>
          <p:cNvSpPr>
            <a:spLocks noGrp="1"/>
          </p:cNvSpPr>
          <p:nvPr>
            <p:ph idx="1"/>
          </p:nvPr>
        </p:nvSpPr>
        <p:spPr>
          <a:xfrm>
            <a:off x="838200" y="586596"/>
            <a:ext cx="10515600" cy="5590367"/>
          </a:xfrm>
        </p:spPr>
        <p:txBody>
          <a:bodyPr>
            <a:normAutofit/>
          </a:bodyPr>
          <a:lstStyle/>
          <a:p>
            <a:r>
              <a:rPr lang="en-US" sz="2400" dirty="0">
                <a:latin typeface="Times New Roman" panose="02020603050405020304" pitchFamily="18" charset="0"/>
                <a:cs typeface="Times New Roman" panose="02020603050405020304" pitchFamily="18" charset="0"/>
              </a:rPr>
              <a:t>The ABTS assay evaluates comprehensive antioxidant capacity by measuring the inhibition of cationic radical formation. The pericarp extract showed notable free radical neutralization, with an IC₅₀ of 200.964 ± 45.202 µg/</a:t>
            </a:r>
            <a:r>
              <a:rPr lang="en-US" sz="2400" dirty="0" err="1">
                <a:latin typeface="Times New Roman" panose="02020603050405020304" pitchFamily="18" charset="0"/>
                <a:cs typeface="Times New Roman" panose="02020603050405020304" pitchFamily="18" charset="0"/>
              </a:rPr>
              <a:t>mL.</a:t>
            </a:r>
            <a:r>
              <a:rPr lang="en-US" sz="2400" dirty="0">
                <a:latin typeface="Times New Roman" panose="02020603050405020304" pitchFamily="18" charset="0"/>
                <a:cs typeface="Times New Roman" panose="02020603050405020304" pitchFamily="18" charset="0"/>
              </a:rPr>
              <a:t> This indicates a stronger performance in the ABTS test compared to the DPPH assay, likely due to differences in reaction mechanisms and radical stability. Ascorbic acid again outperformed the extract, registering an IC₅₀ of 10.139 ± 3.195µg/</a:t>
            </a:r>
            <a:r>
              <a:rPr lang="en-US" sz="2400" dirty="0" err="1">
                <a:latin typeface="Times New Roman" panose="02020603050405020304" pitchFamily="18" charset="0"/>
                <a:cs typeface="Times New Roman" panose="02020603050405020304" pitchFamily="18" charset="0"/>
              </a:rPr>
              <a:t>mL.</a:t>
            </a:r>
            <a:r>
              <a:rPr lang="en-US" sz="2400" dirty="0">
                <a:latin typeface="Times New Roman" panose="02020603050405020304" pitchFamily="18" charset="0"/>
                <a:cs typeface="Times New Roman" panose="02020603050405020304" pitchFamily="18" charset="0"/>
              </a:rPr>
              <a:t> The extract’s higher IC₅₀ underscores its reduced efficiency in stabilizing complex radical systems compared to synthetic antioxidants.</a:t>
            </a:r>
          </a:p>
          <a:p>
            <a:endParaRPr lang="en-US" dirty="0"/>
          </a:p>
        </p:txBody>
      </p:sp>
      <p:graphicFrame>
        <p:nvGraphicFramePr>
          <p:cNvPr id="4" name="Table 3">
            <a:extLst>
              <a:ext uri="{FF2B5EF4-FFF2-40B4-BE49-F238E27FC236}">
                <a16:creationId xmlns:a16="http://schemas.microsoft.com/office/drawing/2014/main" id="{9A02FA1C-DC37-9C4B-A0AD-E0E310E4F84C}"/>
              </a:ext>
            </a:extLst>
          </p:cNvPr>
          <p:cNvGraphicFramePr>
            <a:graphicFrameLocks noGrp="1"/>
          </p:cNvGraphicFramePr>
          <p:nvPr>
            <p:extLst>
              <p:ext uri="{D42A27DB-BD31-4B8C-83A1-F6EECF244321}">
                <p14:modId xmlns:p14="http://schemas.microsoft.com/office/powerpoint/2010/main" val="1339442148"/>
              </p:ext>
            </p:extLst>
          </p:nvPr>
        </p:nvGraphicFramePr>
        <p:xfrm>
          <a:off x="1155353" y="4062460"/>
          <a:ext cx="9265356" cy="1106339"/>
        </p:xfrm>
        <a:graphic>
          <a:graphicData uri="http://schemas.openxmlformats.org/drawingml/2006/table">
            <a:tbl>
              <a:tblPr firstRow="1" firstCol="1" bandRow="1">
                <a:tableStyleId>{5C22544A-7EE6-4342-B048-85BDC9FD1C3A}</a:tableStyleId>
              </a:tblPr>
              <a:tblGrid>
                <a:gridCol w="3262515">
                  <a:extLst>
                    <a:ext uri="{9D8B030D-6E8A-4147-A177-3AD203B41FA5}">
                      <a16:colId xmlns:a16="http://schemas.microsoft.com/office/drawing/2014/main" val="3500968027"/>
                    </a:ext>
                  </a:extLst>
                </a:gridCol>
                <a:gridCol w="3268268">
                  <a:extLst>
                    <a:ext uri="{9D8B030D-6E8A-4147-A177-3AD203B41FA5}">
                      <a16:colId xmlns:a16="http://schemas.microsoft.com/office/drawing/2014/main" val="3760220561"/>
                    </a:ext>
                  </a:extLst>
                </a:gridCol>
                <a:gridCol w="2734573">
                  <a:extLst>
                    <a:ext uri="{9D8B030D-6E8A-4147-A177-3AD203B41FA5}">
                      <a16:colId xmlns:a16="http://schemas.microsoft.com/office/drawing/2014/main" val="2042457245"/>
                    </a:ext>
                  </a:extLst>
                </a:gridCol>
              </a:tblGrid>
              <a:tr h="275966">
                <a:tc rowSpan="2">
                  <a:txBody>
                    <a:bodyPr/>
                    <a:lstStyle/>
                    <a:p>
                      <a:pPr marL="0" marR="0" algn="ctr">
                        <a:spcBef>
                          <a:spcPts val="0"/>
                        </a:spcBef>
                        <a:spcAft>
                          <a:spcPts val="0"/>
                        </a:spcAft>
                      </a:pPr>
                      <a:r>
                        <a:rPr lang="en-US" sz="2000" dirty="0">
                          <a:solidFill>
                            <a:schemeClr val="tx1"/>
                          </a:solidFill>
                          <a:effectLst/>
                          <a:latin typeface="Times New Roman" panose="02020603050405020304" pitchFamily="18" charset="0"/>
                          <a:cs typeface="Times New Roman" panose="02020603050405020304" pitchFamily="18" charset="0"/>
                        </a:rPr>
                        <a:t>Methods</a:t>
                      </a:r>
                    </a:p>
                    <a:p>
                      <a:pPr marL="0" marR="0" algn="ctr">
                        <a:spcBef>
                          <a:spcPts val="0"/>
                        </a:spcBef>
                        <a:spcAft>
                          <a:spcPts val="0"/>
                        </a:spcAft>
                      </a:pPr>
                      <a:r>
                        <a:rPr lang="en-US" sz="2000" dirty="0">
                          <a:solidFill>
                            <a:schemeClr val="tx1"/>
                          </a:solidFill>
                          <a:effectLst/>
                          <a:latin typeface="Times New Roman" panose="02020603050405020304" pitchFamily="18" charset="0"/>
                          <a:cs typeface="Times New Roman" panose="02020603050405020304" pitchFamily="18" charset="0"/>
                        </a:rPr>
                        <a:t> </a:t>
                      </a:r>
                      <a:endParaRPr lang="en-US"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000" dirty="0">
                          <a:solidFill>
                            <a:schemeClr val="tx1"/>
                          </a:solidFill>
                          <a:effectLst/>
                          <a:latin typeface="Times New Roman" panose="02020603050405020304" pitchFamily="18" charset="0"/>
                          <a:cs typeface="Times New Roman" panose="02020603050405020304" pitchFamily="18" charset="0"/>
                        </a:rPr>
                        <a:t>Extracts</a:t>
                      </a:r>
                      <a:endParaRPr lang="en-US"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000" dirty="0">
                          <a:solidFill>
                            <a:schemeClr val="tx1"/>
                          </a:solidFill>
                          <a:effectLst/>
                          <a:latin typeface="Times New Roman" panose="02020603050405020304" pitchFamily="18" charset="0"/>
                          <a:cs typeface="Times New Roman" panose="02020603050405020304" pitchFamily="18" charset="0"/>
                        </a:rPr>
                        <a:t>Standard</a:t>
                      </a:r>
                      <a:endParaRPr lang="en-US"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1585501"/>
                  </a:ext>
                </a:extLst>
              </a:tr>
              <a:tr h="278554">
                <a:tc vMerge="1">
                  <a:txBody>
                    <a:bodyPr/>
                    <a:lstStyle/>
                    <a:p>
                      <a:endParaRPr lang="en-US"/>
                    </a:p>
                  </a:txBody>
                  <a:tcPr/>
                </a:tc>
                <a:tc>
                  <a:txBody>
                    <a:bodyPr/>
                    <a:lstStyle/>
                    <a:p>
                      <a:pPr marL="0" marR="0" algn="ctr">
                        <a:spcBef>
                          <a:spcPts val="0"/>
                        </a:spcBef>
                        <a:spcAft>
                          <a:spcPts val="0"/>
                        </a:spcAft>
                      </a:pPr>
                      <a:r>
                        <a:rPr lang="en-US" sz="2000" i="1" dirty="0">
                          <a:solidFill>
                            <a:schemeClr val="tx1"/>
                          </a:solidFill>
                          <a:effectLst/>
                          <a:latin typeface="Times New Roman" panose="02020603050405020304" pitchFamily="18" charset="0"/>
                          <a:cs typeface="Times New Roman" panose="02020603050405020304" pitchFamily="18" charset="0"/>
                        </a:rPr>
                        <a:t>L. </a:t>
                      </a:r>
                      <a:r>
                        <a:rPr lang="en-US" sz="2000" i="1" dirty="0" err="1">
                          <a:solidFill>
                            <a:schemeClr val="tx1"/>
                          </a:solidFill>
                          <a:effectLst/>
                          <a:latin typeface="Times New Roman" panose="02020603050405020304" pitchFamily="18" charset="0"/>
                          <a:cs typeface="Times New Roman" panose="02020603050405020304" pitchFamily="18" charset="0"/>
                        </a:rPr>
                        <a:t>aegyptiaca</a:t>
                      </a:r>
                      <a:endParaRPr lang="en-US" sz="2000" i="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000" dirty="0">
                          <a:solidFill>
                            <a:schemeClr val="tx1"/>
                          </a:solidFill>
                          <a:effectLst/>
                          <a:latin typeface="Times New Roman" panose="02020603050405020304" pitchFamily="18" charset="0"/>
                          <a:cs typeface="Times New Roman" panose="02020603050405020304" pitchFamily="18" charset="0"/>
                        </a:rPr>
                        <a:t>Ascorbic Acid</a:t>
                      </a:r>
                      <a:endParaRPr lang="en-US"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1668426"/>
                  </a:ext>
                </a:extLst>
              </a:tr>
              <a:tr h="496739">
                <a:tc>
                  <a:txBody>
                    <a:bodyPr/>
                    <a:lstStyle/>
                    <a:p>
                      <a:pPr marL="0" marR="0" algn="ctr">
                        <a:spcBef>
                          <a:spcPts val="0"/>
                        </a:spcBef>
                        <a:spcAft>
                          <a:spcPts val="0"/>
                        </a:spcAft>
                      </a:pPr>
                      <a:r>
                        <a:rPr lang="en-US" sz="2000" dirty="0">
                          <a:solidFill>
                            <a:schemeClr val="tx1"/>
                          </a:solidFill>
                          <a:effectLst/>
                          <a:latin typeface="Times New Roman" panose="02020603050405020304" pitchFamily="18" charset="0"/>
                          <a:cs typeface="Times New Roman" panose="02020603050405020304" pitchFamily="18" charset="0"/>
                        </a:rPr>
                        <a:t>ABTS/ IC₅₀ (µg/mL)</a:t>
                      </a:r>
                      <a:endParaRPr lang="en-US"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000" dirty="0">
                          <a:solidFill>
                            <a:schemeClr val="tx1"/>
                          </a:solidFill>
                          <a:effectLst/>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200.964 ± 45.202</a:t>
                      </a:r>
                      <a:r>
                        <a:rPr lang="en-US" sz="2000" dirty="0">
                          <a:solidFill>
                            <a:schemeClr val="tx1"/>
                          </a:solidFill>
                          <a:effectLst/>
                          <a:latin typeface="Times New Roman" panose="02020603050405020304" pitchFamily="18" charset="0"/>
                          <a:cs typeface="Times New Roman" panose="02020603050405020304" pitchFamily="18" charset="0"/>
                        </a:rPr>
                        <a:t> µg/mL</a:t>
                      </a:r>
                      <a:endParaRPr lang="en-US"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000" dirty="0">
                          <a:solidFill>
                            <a:schemeClr val="tx1"/>
                          </a:solidFill>
                          <a:effectLst/>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10.139 ±3.195 </a:t>
                      </a:r>
                      <a:r>
                        <a:rPr lang="en-US" sz="2000" dirty="0">
                          <a:solidFill>
                            <a:schemeClr val="tx1"/>
                          </a:solidFill>
                          <a:effectLst/>
                          <a:latin typeface="Times New Roman" panose="02020603050405020304" pitchFamily="18" charset="0"/>
                          <a:cs typeface="Times New Roman" panose="02020603050405020304" pitchFamily="18" charset="0"/>
                        </a:rPr>
                        <a:t>µg/mL</a:t>
                      </a:r>
                      <a:endParaRPr lang="en-US"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2632931"/>
                  </a:ext>
                </a:extLst>
              </a:tr>
            </a:tbl>
          </a:graphicData>
        </a:graphic>
      </p:graphicFrame>
      <p:sp>
        <p:nvSpPr>
          <p:cNvPr id="5" name="Rectangle 2">
            <a:extLst>
              <a:ext uri="{FF2B5EF4-FFF2-40B4-BE49-F238E27FC236}">
                <a16:creationId xmlns:a16="http://schemas.microsoft.com/office/drawing/2014/main" id="{CC6198DC-E93E-A945-BA01-3682AE1C54F1}"/>
              </a:ext>
            </a:extLst>
          </p:cNvPr>
          <p:cNvSpPr>
            <a:spLocks noChangeArrowheads="1"/>
          </p:cNvSpPr>
          <p:nvPr/>
        </p:nvSpPr>
        <p:spPr bwMode="auto">
          <a:xfrm>
            <a:off x="1155353" y="3529695"/>
            <a:ext cx="850053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1pPr>
            <a:lvl2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2pPr>
            <a:lvl3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3pPr>
            <a:lvl4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4pPr>
            <a:lvl5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5pPr>
            <a:lvl6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6pPr>
            <a:lvl7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7pPr>
            <a:lvl8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8pPr>
            <a:lvl9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kumimoji="0" lang="en-US" altLang="en-US" b="1"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Table 2 : IC₅₀ value of </a:t>
            </a:r>
            <a:r>
              <a:rPr kumimoji="0" lang="en-US" altLang="en-US" b="1" i="1"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Luffa </a:t>
            </a:r>
            <a:r>
              <a:rPr kumimoji="0" lang="en-US" altLang="en-US" b="1" i="1" u="none" strike="noStrike" cap="none" normalizeH="0" baseline="0" dirty="0" err="1">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aegyptiaca</a:t>
            </a:r>
            <a:r>
              <a:rPr kumimoji="0" lang="en-US" altLang="en-US" b="1" i="1"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1"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pericarp</a:t>
            </a:r>
            <a:r>
              <a:rPr kumimoji="0" lang="en-US" altLang="en-US" b="1" i="1"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1"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extract &amp; standard for ABTS Assay</a:t>
            </a: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75421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297FA-50AF-324F-991F-B7BAE867D439}"/>
              </a:ext>
            </a:extLst>
          </p:cNvPr>
          <p:cNvSpPr>
            <a:spLocks noGrp="1"/>
          </p:cNvSpPr>
          <p:nvPr>
            <p:ph type="title"/>
          </p:nvPr>
        </p:nvSpPr>
        <p:spPr/>
        <p:txBody>
          <a:bodyPr/>
          <a:lstStyle/>
          <a:p>
            <a:r>
              <a:rPr lang="en-US" b="1" dirty="0">
                <a:solidFill>
                  <a:schemeClr val="accent6">
                    <a:lumMod val="50000"/>
                  </a:schemeClr>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D86A9832-B0B9-904D-B066-C88989A081B8}"/>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Findings indicate that </a:t>
            </a:r>
            <a:r>
              <a:rPr lang="en-US" i="1" dirty="0">
                <a:latin typeface="Times New Roman" panose="02020603050405020304" pitchFamily="18" charset="0"/>
                <a:cs typeface="Times New Roman" panose="02020603050405020304" pitchFamily="18" charset="0"/>
              </a:rPr>
              <a:t>Luffa </a:t>
            </a:r>
            <a:r>
              <a:rPr lang="en-US" i="1" dirty="0" err="1">
                <a:latin typeface="Times New Roman" panose="02020603050405020304" pitchFamily="18" charset="0"/>
                <a:cs typeface="Times New Roman" panose="02020603050405020304" pitchFamily="18" charset="0"/>
              </a:rPr>
              <a:t>aegyptiaca</a:t>
            </a:r>
            <a:r>
              <a:rPr lang="en-US" dirty="0">
                <a:latin typeface="Times New Roman" panose="02020603050405020304" pitchFamily="18" charset="0"/>
                <a:cs typeface="Times New Roman" panose="02020603050405020304" pitchFamily="18" charset="0"/>
              </a:rPr>
              <a:t> pericarp extract possesses promising antioxidant properties under the tested conditions. Further exploration is warranted to uncover additional bioactive potentials and validate its applicability in pharmaceutical or nutraceutical contexts.</a:t>
            </a:r>
          </a:p>
          <a:p>
            <a:endParaRPr lang="en-US" dirty="0"/>
          </a:p>
        </p:txBody>
      </p:sp>
    </p:spTree>
    <p:extLst>
      <p:ext uri="{BB962C8B-B14F-4D97-AF65-F5344CB8AC3E}">
        <p14:creationId xmlns:p14="http://schemas.microsoft.com/office/powerpoint/2010/main" val="3203566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dissolve">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C9EC8-2033-244C-8BDA-617CAF450C1A}"/>
              </a:ext>
            </a:extLst>
          </p:cNvPr>
          <p:cNvSpPr>
            <a:spLocks noGrp="1"/>
          </p:cNvSpPr>
          <p:nvPr>
            <p:ph type="title"/>
          </p:nvPr>
        </p:nvSpPr>
        <p:spPr>
          <a:xfrm>
            <a:off x="838200" y="365126"/>
            <a:ext cx="10515600" cy="868452"/>
          </a:xfrm>
        </p:spPr>
        <p:txBody>
          <a:bodyPr/>
          <a:lstStyle/>
          <a:p>
            <a:r>
              <a:rPr lang="en-US" b="1" dirty="0">
                <a:solidFill>
                  <a:schemeClr val="accent6">
                    <a:lumMod val="50000"/>
                  </a:schemeClr>
                </a:solidFill>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C5EB3EBE-5DCA-8A44-8A39-FD930F854B11}"/>
              </a:ext>
            </a:extLst>
          </p:cNvPr>
          <p:cNvSpPr>
            <a:spLocks noGrp="1"/>
          </p:cNvSpPr>
          <p:nvPr>
            <p:ph idx="1"/>
          </p:nvPr>
        </p:nvSpPr>
        <p:spPr>
          <a:xfrm>
            <a:off x="838200" y="1031994"/>
            <a:ext cx="10515600" cy="4351338"/>
          </a:xfrm>
        </p:spPr>
        <p:txBody>
          <a:bodyPr>
            <a:noAutofit/>
          </a:bodyPr>
          <a:lstStyle/>
          <a:p>
            <a:r>
              <a:rPr lang="en-US" sz="1600" dirty="0">
                <a:latin typeface="Times New Roman" panose="02020603050405020304" pitchFamily="18" charset="0"/>
                <a:cs typeface="Times New Roman" panose="02020603050405020304" pitchFamily="18" charset="0"/>
              </a:rPr>
              <a:t>Du, Q., Zhu, Z., &amp; Wang, X. (2006). Antioxidant and Antimicrobial Activities of Luffa </a:t>
            </a:r>
            <a:r>
              <a:rPr lang="en-US" sz="1600" dirty="0" err="1">
                <a:latin typeface="Times New Roman" panose="02020603050405020304" pitchFamily="18" charset="0"/>
                <a:cs typeface="Times New Roman" panose="02020603050405020304" pitchFamily="18" charset="0"/>
              </a:rPr>
              <a:t>aegyptiaca</a:t>
            </a:r>
            <a:r>
              <a:rPr lang="en-US" sz="1600" dirty="0">
                <a:latin typeface="Times New Roman" panose="02020603050405020304" pitchFamily="18" charset="0"/>
                <a:cs typeface="Times New Roman" panose="02020603050405020304" pitchFamily="18" charset="0"/>
              </a:rPr>
              <a:t> Extracts. Journal of Ethnopharmacology.</a:t>
            </a:r>
          </a:p>
          <a:p>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Panicker</a:t>
            </a:r>
            <a:r>
              <a:rPr lang="en-US" sz="1600" dirty="0">
                <a:latin typeface="Times New Roman" panose="02020603050405020304" pitchFamily="18" charset="0"/>
                <a:cs typeface="Times New Roman" panose="02020603050405020304" pitchFamily="18" charset="0"/>
              </a:rPr>
              <a:t>, S. P., et al. (2020). The Pharmacological Potential of Luffa </a:t>
            </a:r>
            <a:r>
              <a:rPr lang="en-US" sz="1600" dirty="0" err="1">
                <a:latin typeface="Times New Roman" panose="02020603050405020304" pitchFamily="18" charset="0"/>
                <a:cs typeface="Times New Roman" panose="02020603050405020304" pitchFamily="18" charset="0"/>
              </a:rPr>
              <a:t>aegyptiaca</a:t>
            </a:r>
            <a:r>
              <a:rPr lang="en-US" sz="1600" dirty="0">
                <a:latin typeface="Times New Roman" panose="02020603050405020304" pitchFamily="18" charset="0"/>
                <a:cs typeface="Times New Roman" panose="02020603050405020304" pitchFamily="18" charset="0"/>
              </a:rPr>
              <a:t> in Traditional Medicine and Modern Therapeutics. Molecular Biology Reports.</a:t>
            </a:r>
          </a:p>
          <a:p>
            <a:r>
              <a:rPr lang="en-US" sz="1600" dirty="0">
                <a:latin typeface="Times New Roman" panose="02020603050405020304" pitchFamily="18" charset="0"/>
                <a:cs typeface="Times New Roman" panose="02020603050405020304" pitchFamily="18" charset="0"/>
              </a:rPr>
              <a:t>Davis, J. M., &amp; De </a:t>
            </a:r>
            <a:r>
              <a:rPr lang="en-US" sz="1600" dirty="0" err="1">
                <a:latin typeface="Times New Roman" panose="02020603050405020304" pitchFamily="18" charset="0"/>
                <a:cs typeface="Times New Roman" panose="02020603050405020304" pitchFamily="18" charset="0"/>
              </a:rPr>
              <a:t>Courley</a:t>
            </a:r>
            <a:r>
              <a:rPr lang="en-US" sz="1600" dirty="0">
                <a:latin typeface="Times New Roman" panose="02020603050405020304" pitchFamily="18" charset="0"/>
                <a:cs typeface="Times New Roman" panose="02020603050405020304" pitchFamily="18" charset="0"/>
              </a:rPr>
              <a:t>, C. D. (1994). "Luffa Sponge Gourd Production Practices for Temperate Climates." </a:t>
            </a:r>
            <a:r>
              <a:rPr lang="en-US" sz="1600" dirty="0" err="1">
                <a:latin typeface="Times New Roman" panose="02020603050405020304" pitchFamily="18" charset="0"/>
                <a:cs typeface="Times New Roman" panose="02020603050405020304" pitchFamily="18" charset="0"/>
              </a:rPr>
              <a:t>HortTechnology</a:t>
            </a:r>
            <a:r>
              <a:rPr lang="en-US" sz="1600" dirty="0">
                <a:latin typeface="Times New Roman" panose="02020603050405020304" pitchFamily="18" charset="0"/>
                <a:cs typeface="Times New Roman" panose="02020603050405020304" pitchFamily="18" charset="0"/>
              </a:rPr>
              <a:t>, 4(3), 253–257.</a:t>
            </a:r>
          </a:p>
          <a:p>
            <a:r>
              <a:rPr lang="en-US" sz="1600" dirty="0">
                <a:latin typeface="Times New Roman" panose="02020603050405020304" pitchFamily="18" charset="0"/>
                <a:cs typeface="Times New Roman" panose="02020603050405020304" pitchFamily="18" charset="0"/>
              </a:rPr>
              <a:t>Seshadri, V., &amp; More, T. A. (2009). "Origin and Diversity of Sponge Gourd." Journal of Horticultural Science, 11(2), 102–109.</a:t>
            </a:r>
          </a:p>
          <a:p>
            <a:r>
              <a:rPr lang="en-US" sz="1600" dirty="0" err="1">
                <a:latin typeface="Times New Roman" panose="02020603050405020304" pitchFamily="18" charset="0"/>
                <a:cs typeface="Times New Roman" panose="02020603050405020304" pitchFamily="18" charset="0"/>
              </a:rPr>
              <a:t>Nnam</a:t>
            </a:r>
            <a:r>
              <a:rPr lang="en-US" sz="1600" dirty="0">
                <a:latin typeface="Times New Roman" panose="02020603050405020304" pitchFamily="18" charset="0"/>
                <a:cs typeface="Times New Roman" panose="02020603050405020304" pitchFamily="18" charset="0"/>
              </a:rPr>
              <a:t> NM &amp; Okorie IJ (2024). "Hypoglycemic and lipid-lowering effects of L. </a:t>
            </a:r>
            <a:r>
              <a:rPr lang="en-US" sz="1600" dirty="0" err="1">
                <a:latin typeface="Times New Roman" panose="02020603050405020304" pitchFamily="18" charset="0"/>
                <a:cs typeface="Times New Roman" panose="02020603050405020304" pitchFamily="18" charset="0"/>
              </a:rPr>
              <a:t>aegyptiaca</a:t>
            </a:r>
            <a:r>
              <a:rPr lang="en-US" sz="1600" dirty="0">
                <a:latin typeface="Times New Roman" panose="02020603050405020304" pitchFamily="18" charset="0"/>
                <a:cs typeface="Times New Roman" panose="02020603050405020304" pitchFamily="18" charset="0"/>
              </a:rPr>
              <a:t> decoctions." </a:t>
            </a:r>
            <a:r>
              <a:rPr lang="en-US" sz="1600" dirty="0" err="1">
                <a:latin typeface="Times New Roman" panose="02020603050405020304" pitchFamily="18" charset="0"/>
                <a:cs typeface="Times New Roman" panose="02020603050405020304" pitchFamily="18" charset="0"/>
              </a:rPr>
              <a:t>PriMera</a:t>
            </a:r>
            <a:r>
              <a:rPr lang="en-US" sz="1600" dirty="0">
                <a:latin typeface="Times New Roman" panose="02020603050405020304" pitchFamily="18" charset="0"/>
                <a:cs typeface="Times New Roman" panose="02020603050405020304" pitchFamily="18" charset="0"/>
              </a:rPr>
              <a:t> Science Medicine Public Health.</a:t>
            </a:r>
          </a:p>
          <a:p>
            <a:r>
              <a:rPr lang="en-US" sz="1600" dirty="0">
                <a:latin typeface="Times New Roman" panose="02020603050405020304" pitchFamily="18" charset="0"/>
                <a:cs typeface="Times New Roman" panose="02020603050405020304" pitchFamily="18" charset="0"/>
              </a:rPr>
              <a:t> Rahman, Md. M., et al. (2024). "Phytochemical Profiling and Bioactivity of Luffa </a:t>
            </a:r>
            <a:r>
              <a:rPr lang="en-US" sz="1600" dirty="0" err="1">
                <a:latin typeface="Times New Roman" panose="02020603050405020304" pitchFamily="18" charset="0"/>
                <a:cs typeface="Times New Roman" panose="02020603050405020304" pitchFamily="18" charset="0"/>
              </a:rPr>
              <a:t>aegyptiaca</a:t>
            </a:r>
            <a:r>
              <a:rPr lang="en-US" sz="1600" dirty="0">
                <a:latin typeface="Times New Roman" panose="02020603050405020304" pitchFamily="18" charset="0"/>
                <a:cs typeface="Times New Roman" panose="02020603050405020304" pitchFamily="18" charset="0"/>
              </a:rPr>
              <a:t>." International Journal of Scientific Research.</a:t>
            </a:r>
          </a:p>
          <a:p>
            <a:r>
              <a:rPr lang="en-US" sz="1600" dirty="0">
                <a:latin typeface="Times New Roman" panose="02020603050405020304" pitchFamily="18" charset="0"/>
                <a:cs typeface="Times New Roman" panose="02020603050405020304" pitchFamily="18" charset="0"/>
              </a:rPr>
              <a:t>Porterfield, W. M. (1955). "Loofah Sponge Gourd: Its Cultivation and Uses." Economic Botany, 9(1), 3–19.</a:t>
            </a:r>
          </a:p>
          <a:p>
            <a:r>
              <a:rPr lang="en-US" sz="1600" dirty="0">
                <a:latin typeface="Times New Roman" panose="02020603050405020304" pitchFamily="18" charset="0"/>
                <a:cs typeface="Times New Roman" panose="02020603050405020304" pitchFamily="18" charset="0"/>
              </a:rPr>
              <a:t> Rahul, R., et al. (2024). "Morphological, Reproductive and Biochemical Diversity in Luffa </a:t>
            </a:r>
            <a:r>
              <a:rPr lang="en-US" sz="1600" dirty="0" err="1">
                <a:latin typeface="Times New Roman" panose="02020603050405020304" pitchFamily="18" charset="0"/>
                <a:cs typeface="Times New Roman" panose="02020603050405020304" pitchFamily="18" charset="0"/>
              </a:rPr>
              <a:t>aegyptiaca</a:t>
            </a:r>
            <a:r>
              <a:rPr lang="en-US" sz="1600" dirty="0">
                <a:latin typeface="Times New Roman" panose="02020603050405020304" pitchFamily="18" charset="0"/>
                <a:cs typeface="Times New Roman" panose="02020603050405020304" pitchFamily="18" charset="0"/>
              </a:rPr>
              <a:t> Cultivars." International Journal of Horticultural Science and Technology, 11(2), 1021–1039.</a:t>
            </a:r>
          </a:p>
          <a:p>
            <a:r>
              <a:rPr lang="en-US" sz="1600" dirty="0">
                <a:latin typeface="Times New Roman" panose="02020603050405020304" pitchFamily="18" charset="0"/>
                <a:cs typeface="Times New Roman" panose="02020603050405020304" pitchFamily="18" charset="0"/>
              </a:rPr>
              <a:t>Easy Ayurveda (2016). "Sponge Gourd: Benefits, Usage, Research, Remedies, Side Effects."</a:t>
            </a:r>
          </a:p>
          <a:p>
            <a:r>
              <a:rPr lang="en-US" sz="1600" dirty="0" err="1">
                <a:latin typeface="Times New Roman" panose="02020603050405020304" pitchFamily="18" charset="0"/>
                <a:cs typeface="Times New Roman" panose="02020603050405020304" pitchFamily="18" charset="0"/>
              </a:rPr>
              <a:t>Oboh</a:t>
            </a:r>
            <a:r>
              <a:rPr lang="en-US" sz="1600" dirty="0">
                <a:latin typeface="Times New Roman" panose="02020603050405020304" pitchFamily="18" charset="0"/>
                <a:cs typeface="Times New Roman" panose="02020603050405020304" pitchFamily="18" charset="0"/>
              </a:rPr>
              <a:t>, I. O., &amp; </a:t>
            </a:r>
            <a:r>
              <a:rPr lang="en-US" sz="1600" dirty="0" err="1">
                <a:latin typeface="Times New Roman" panose="02020603050405020304" pitchFamily="18" charset="0"/>
                <a:cs typeface="Times New Roman" panose="02020603050405020304" pitchFamily="18" charset="0"/>
              </a:rPr>
              <a:t>Aluyor</a:t>
            </a:r>
            <a:r>
              <a:rPr lang="en-US" sz="1600" dirty="0">
                <a:latin typeface="Times New Roman" panose="02020603050405020304" pitchFamily="18" charset="0"/>
                <a:cs typeface="Times New Roman" panose="02020603050405020304" pitchFamily="18" charset="0"/>
              </a:rPr>
              <a:t>, E. O. (2009). "Sponge Gourd: Uses and Applications." International Journal of Plant Sciences, 34(21), 827–840.</a:t>
            </a:r>
          </a:p>
          <a:p>
            <a:r>
              <a:rPr lang="en-US" sz="1600" dirty="0">
                <a:latin typeface="Times New Roman" panose="02020603050405020304" pitchFamily="18" charset="0"/>
                <a:cs typeface="Times New Roman" panose="02020603050405020304" pitchFamily="18" charset="0"/>
              </a:rPr>
              <a:t> Joshi, B., et al. (2004). "Genetic Diversity in Luffa Species." Plant Genetic Resources Newsletter, 137(3), 45–52.</a:t>
            </a:r>
          </a:p>
          <a:p>
            <a:r>
              <a:rPr lang="en-US" sz="1600" dirty="0" err="1">
                <a:latin typeface="Times New Roman" panose="02020603050405020304" pitchFamily="18" charset="0"/>
                <a:cs typeface="Times New Roman" panose="02020603050405020304" pitchFamily="18" charset="0"/>
              </a:rPr>
              <a:t>Chabert-Llompart</a:t>
            </a:r>
            <a:r>
              <a:rPr lang="en-US" sz="1600" dirty="0">
                <a:latin typeface="Times New Roman" panose="02020603050405020304" pitchFamily="18" charset="0"/>
                <a:cs typeface="Times New Roman" panose="02020603050405020304" pitchFamily="18" charset="0"/>
              </a:rPr>
              <a:t>, J. (2020). "Invasive Potential of Luffa Species." Journal of Tropical Agriculture, 58(1), 12–18.</a:t>
            </a: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13082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4B60B-0A39-9D4C-8184-CF527C812911}"/>
              </a:ext>
            </a:extLst>
          </p:cNvPr>
          <p:cNvSpPr>
            <a:spLocks noGrp="1"/>
          </p:cNvSpPr>
          <p:nvPr>
            <p:ph type="title"/>
          </p:nvPr>
        </p:nvSpPr>
        <p:spPr>
          <a:xfrm>
            <a:off x="4347464" y="2665566"/>
            <a:ext cx="4820728" cy="1325563"/>
          </a:xfrm>
        </p:spPr>
        <p:txBody>
          <a:bodyPr/>
          <a:lstStyle/>
          <a:p>
            <a:r>
              <a:rPr lang="en-US" b="1" dirty="0">
                <a:solidFill>
                  <a:schemeClr val="accent6">
                    <a:lumMod val="50000"/>
                  </a:schemeClr>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803799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262</TotalTime>
  <Words>1340</Words>
  <Application>Microsoft Macintosh PowerPoint</Application>
  <PresentationFormat>Widescreen</PresentationFormat>
  <Paragraphs>189</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Bebas Neue</vt:lpstr>
      <vt:lpstr>Calibri</vt:lpstr>
      <vt:lpstr>Calibri Light</vt:lpstr>
      <vt:lpstr>Raleway</vt:lpstr>
      <vt:lpstr>Times New Roman</vt:lpstr>
      <vt:lpstr>Office Theme</vt:lpstr>
      <vt:lpstr>PowerPoint Presentation</vt:lpstr>
      <vt:lpstr>PowerPoint Presentation</vt:lpstr>
      <vt:lpstr>Background</vt:lpstr>
      <vt:lpstr>Aims and Objectives</vt:lpstr>
      <vt:lpstr>Plant Preview</vt:lpstr>
      <vt:lpstr>PowerPoint Presentation</vt:lpstr>
      <vt:lpstr>Extract Preparation</vt:lpstr>
      <vt:lpstr>Materials and Methods</vt:lpstr>
      <vt:lpstr>Continue</vt:lpstr>
      <vt:lpstr>Result and Discussion</vt:lpstr>
      <vt:lpstr>Phytochemical Screening </vt:lpstr>
      <vt:lpstr>Antioxidant Activity Test</vt:lpstr>
      <vt:lpstr>DPPH Free Radical Scavenging Activity </vt:lpstr>
      <vt:lpstr>PowerPoint Presentation</vt:lpstr>
      <vt:lpstr>ABTS Free Radical Scavenging Activity</vt:lpstr>
      <vt:lpstr>PowerPoint Presentation</vt:lpstr>
      <vt:lpstr>Conclusion</vt:lpstr>
      <vt:lpstr>References</vt:lpstr>
      <vt:lpstr>Thank You</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Md I Tusar</dc:creator>
  <cp:lastModifiedBy>Md I Tusar</cp:lastModifiedBy>
  <cp:revision>50</cp:revision>
  <dcterms:created xsi:type="dcterms:W3CDTF">2025-04-15T13:02:45Z</dcterms:created>
  <dcterms:modified xsi:type="dcterms:W3CDTF">2025-04-16T16:00:34Z</dcterms:modified>
</cp:coreProperties>
</file>